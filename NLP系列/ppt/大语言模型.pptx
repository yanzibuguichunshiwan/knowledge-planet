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94" r:id="rId3"/>
    <p:sldId id="258" r:id="rId4"/>
    <p:sldId id="271" r:id="rId5"/>
    <p:sldId id="273" r:id="rId6"/>
    <p:sldId id="267" r:id="rId7"/>
    <p:sldId id="290" r:id="rId8"/>
    <p:sldId id="266" r:id="rId9"/>
    <p:sldId id="268" r:id="rId10"/>
    <p:sldId id="272" r:id="rId11"/>
    <p:sldId id="280" r:id="rId12"/>
    <p:sldId id="269" r:id="rId13"/>
    <p:sldId id="291" r:id="rId14"/>
    <p:sldId id="270" r:id="rId15"/>
    <p:sldId id="281" r:id="rId16"/>
    <p:sldId id="282" r:id="rId17"/>
    <p:sldId id="283" r:id="rId18"/>
    <p:sldId id="292" r:id="rId19"/>
    <p:sldId id="285" r:id="rId20"/>
    <p:sldId id="286" r:id="rId21"/>
    <p:sldId id="293" r:id="rId22"/>
    <p:sldId id="260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7FF"/>
    <a:srgbClr val="D4AFE3"/>
    <a:srgbClr val="FDFFAD"/>
    <a:srgbClr val="C59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1" Type="http://schemas.openxmlformats.org/officeDocument/2006/relationships/image" Target="../media/image13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12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svg"/><Relationship Id="rId3" Type="http://schemas.openxmlformats.org/officeDocument/2006/relationships/image" Target="../media/image54.jpeg"/><Relationship Id="rId7" Type="http://schemas.openxmlformats.org/officeDocument/2006/relationships/image" Target="../media/image58.jpeg"/><Relationship Id="rId12" Type="http://schemas.openxmlformats.org/officeDocument/2006/relationships/image" Target="../media/image63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eg"/><Relationship Id="rId11" Type="http://schemas.openxmlformats.org/officeDocument/2006/relationships/image" Target="../media/image62.png"/><Relationship Id="rId5" Type="http://schemas.openxmlformats.org/officeDocument/2006/relationships/image" Target="../media/image56.jpeg"/><Relationship Id="rId15" Type="http://schemas.openxmlformats.org/officeDocument/2006/relationships/image" Target="../media/image66.svg"/><Relationship Id="rId10" Type="http://schemas.openxmlformats.org/officeDocument/2006/relationships/image" Target="../media/image61.svg"/><Relationship Id="rId4" Type="http://schemas.openxmlformats.org/officeDocument/2006/relationships/image" Target="../media/image55.jpe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61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svg"/><Relationship Id="rId18" Type="http://schemas.openxmlformats.org/officeDocument/2006/relationships/image" Target="../media/image89.png"/><Relationship Id="rId3" Type="http://schemas.openxmlformats.org/officeDocument/2006/relationships/image" Target="../media/image74.svg"/><Relationship Id="rId21" Type="http://schemas.openxmlformats.org/officeDocument/2006/relationships/image" Target="../media/image92.svg"/><Relationship Id="rId7" Type="http://schemas.openxmlformats.org/officeDocument/2006/relationships/image" Target="../media/image78.svg"/><Relationship Id="rId12" Type="http://schemas.openxmlformats.org/officeDocument/2006/relationships/image" Target="../media/image83.png"/><Relationship Id="rId17" Type="http://schemas.openxmlformats.org/officeDocument/2006/relationships/image" Target="../media/image88.sv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5" Type="http://schemas.openxmlformats.org/officeDocument/2006/relationships/image" Target="../media/image76.svg"/><Relationship Id="rId15" Type="http://schemas.openxmlformats.org/officeDocument/2006/relationships/image" Target="../media/image86.svg"/><Relationship Id="rId10" Type="http://schemas.openxmlformats.org/officeDocument/2006/relationships/image" Target="../media/image81.png"/><Relationship Id="rId19" Type="http://schemas.openxmlformats.org/officeDocument/2006/relationships/image" Target="../media/image90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Relationship Id="rId1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sv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12" Type="http://schemas.openxmlformats.org/officeDocument/2006/relationships/image" Target="../media/image103.png"/><Relationship Id="rId17" Type="http://schemas.openxmlformats.org/officeDocument/2006/relationships/image" Target="../media/image108.sv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svg"/><Relationship Id="rId5" Type="http://schemas.openxmlformats.org/officeDocument/2006/relationships/image" Target="../media/image96.svg"/><Relationship Id="rId15" Type="http://schemas.openxmlformats.org/officeDocument/2006/relationships/image" Target="../media/image106.sv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svg"/><Relationship Id="rId1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488920"/>
            <a:ext cx="9144000" cy="1175385"/>
          </a:xfrm>
        </p:spPr>
        <p:txBody>
          <a:bodyPr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lang="en-US" altLang="zh-CN" sz="5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大语言模型与提示工程介绍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5247C5-E7F4-5460-D3A2-E340EDD00495}"/>
              </a:ext>
            </a:extLst>
          </p:cNvPr>
          <p:cNvSpPr txBox="1"/>
          <p:nvPr/>
        </p:nvSpPr>
        <p:spPr>
          <a:xfrm>
            <a:off x="4689411" y="3013501"/>
            <a:ext cx="2532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1284A-E611-290E-6B11-41CDE5D040D2}"/>
              </a:ext>
            </a:extLst>
          </p:cNvPr>
          <p:cNvSpPr txBox="1"/>
          <p:nvPr/>
        </p:nvSpPr>
        <p:spPr>
          <a:xfrm>
            <a:off x="5418754" y="3639696"/>
            <a:ext cx="120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唐天驰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293BED64-5479-4CB3-9445-E18A75B3F89E}"/>
              </a:ext>
            </a:extLst>
          </p:cNvPr>
          <p:cNvGrpSpPr/>
          <p:nvPr/>
        </p:nvGrpSpPr>
        <p:grpSpPr>
          <a:xfrm>
            <a:off x="1089998" y="638886"/>
            <a:ext cx="4551777" cy="5181937"/>
            <a:chOff x="5817642" y="930715"/>
            <a:chExt cx="4551777" cy="5181937"/>
          </a:xfrm>
        </p:grpSpPr>
        <p:pic>
          <p:nvPicPr>
            <p:cNvPr id="41" name="http://photo-static-api.fotomore.com/creative/vcg/400/new/VCG211245356084.jpg?uid=386&amp;timestamp=1711620310&amp;sign=92ce263b2aef03139dbdee7cfa9ca549" descr="templates\picture_hover\&amp;pky290_sjzg_VCG211245356084&amp;">
              <a:extLst>
                <a:ext uri="{FF2B5EF4-FFF2-40B4-BE49-F238E27FC236}">
                  <a16:creationId xmlns:a16="http://schemas.microsoft.com/office/drawing/2014/main" id="{413167AD-FDE0-F20C-6D40-0A074F691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-208" b="7306"/>
            <a:stretch>
              <a:fillRect/>
            </a:stretch>
          </p:blipFill>
          <p:spPr>
            <a:xfrm>
              <a:off x="5952558" y="930715"/>
              <a:ext cx="3990764" cy="5181937"/>
            </a:xfrm>
            <a:prstGeom prst="rect">
              <a:avLst/>
            </a:prstGeom>
          </p:spPr>
        </p:pic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E2D95CCF-D79F-566C-624B-7D908F7F7A08}"/>
                </a:ext>
              </a:extLst>
            </p:cNvPr>
            <p:cNvSpPr/>
            <p:nvPr/>
          </p:nvSpPr>
          <p:spPr>
            <a:xfrm>
              <a:off x="5949047" y="1425238"/>
              <a:ext cx="1001485" cy="36933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GLM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D67DA1A-839C-DAF1-2B7B-2508442D191E}"/>
                </a:ext>
              </a:extLst>
            </p:cNvPr>
            <p:cNvSpPr/>
            <p:nvPr/>
          </p:nvSpPr>
          <p:spPr>
            <a:xfrm>
              <a:off x="8089643" y="2013083"/>
              <a:ext cx="1001485" cy="36933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QWen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B8F6FDED-0AB0-B5FC-5993-4332D1758B2B}"/>
                </a:ext>
              </a:extLst>
            </p:cNvPr>
            <p:cNvSpPr/>
            <p:nvPr/>
          </p:nvSpPr>
          <p:spPr>
            <a:xfrm>
              <a:off x="5817642" y="2620880"/>
              <a:ext cx="1001485" cy="36933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Bloom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F111AF8C-1FA9-6C2C-BDAF-9C45313CBD56}"/>
                </a:ext>
              </a:extLst>
            </p:cNvPr>
            <p:cNvSpPr/>
            <p:nvPr/>
          </p:nvSpPr>
          <p:spPr>
            <a:xfrm>
              <a:off x="6051521" y="3498455"/>
              <a:ext cx="1087578" cy="369333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Baichuan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C44A0D4-D936-0537-DE30-EF45EB6B20D2}"/>
                </a:ext>
              </a:extLst>
            </p:cNvPr>
            <p:cNvSpPr/>
            <p:nvPr/>
          </p:nvSpPr>
          <p:spPr>
            <a:xfrm>
              <a:off x="9281841" y="2410947"/>
              <a:ext cx="1087578" cy="36933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Llama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DF44982C-DD51-304D-4DD6-7F5A0C56B7D7}"/>
                </a:ext>
              </a:extLst>
            </p:cNvPr>
            <p:cNvSpPr/>
            <p:nvPr/>
          </p:nvSpPr>
          <p:spPr>
            <a:xfrm>
              <a:off x="8046596" y="3416566"/>
              <a:ext cx="1087578" cy="36933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InterLM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5DB068A8-F63D-ACE9-B20B-8FE437C2C772}"/>
                </a:ext>
              </a:extLst>
            </p:cNvPr>
            <p:cNvSpPr/>
            <p:nvPr/>
          </p:nvSpPr>
          <p:spPr>
            <a:xfrm>
              <a:off x="8586339" y="4079553"/>
              <a:ext cx="1087578" cy="369333"/>
            </a:xfrm>
            <a:prstGeom prst="roundRect">
              <a:avLst/>
            </a:prstGeom>
            <a:solidFill>
              <a:srgbClr val="D4AFE3">
                <a:alpha val="99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Yi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587BDCFD-B231-E692-3958-1FF32D0E0306}"/>
                </a:ext>
              </a:extLst>
            </p:cNvPr>
            <p:cNvSpPr/>
            <p:nvPr/>
          </p:nvSpPr>
          <p:spPr>
            <a:xfrm>
              <a:off x="7200528" y="2620880"/>
              <a:ext cx="1087578" cy="369333"/>
            </a:xfrm>
            <a:prstGeom prst="roundRect">
              <a:avLst/>
            </a:prstGeom>
            <a:solidFill>
              <a:srgbClr val="D7D7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Aquila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A5314BF-72C9-E063-E359-61147482032B}"/>
              </a:ext>
            </a:extLst>
          </p:cNvPr>
          <p:cNvGrpSpPr/>
          <p:nvPr/>
        </p:nvGrpSpPr>
        <p:grpSpPr>
          <a:xfrm>
            <a:off x="6502636" y="822669"/>
            <a:ext cx="4992679" cy="5419512"/>
            <a:chOff x="6502636" y="822669"/>
            <a:chExt cx="4992679" cy="541951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51E02530-4A21-6696-257A-48331245070B}"/>
                </a:ext>
              </a:extLst>
            </p:cNvPr>
            <p:cNvGrpSpPr/>
            <p:nvPr/>
          </p:nvGrpSpPr>
          <p:grpSpPr>
            <a:xfrm>
              <a:off x="6502636" y="822669"/>
              <a:ext cx="4992679" cy="5419512"/>
              <a:chOff x="6502636" y="822669"/>
              <a:chExt cx="4992679" cy="5419512"/>
            </a:xfrm>
          </p:grpSpPr>
          <p:pic>
            <p:nvPicPr>
              <p:cNvPr id="55" name="http://photo-static-api.fotomore.com/creative/vcg/400/new/VCG41N1314474410.jpg?uid=386&amp;timestamp=1711620267&amp;sign=fc8c372bf6d2d4e227946f811d72e37e" descr="templates\picture_hover\&amp;pky320_sjzg_VCG41N1314474410&amp;">
                <a:extLst>
                  <a:ext uri="{FF2B5EF4-FFF2-40B4-BE49-F238E27FC236}">
                    <a16:creationId xmlns:a16="http://schemas.microsoft.com/office/drawing/2014/main" id="{668F55CC-8A9F-CCB3-5CEF-6F76B2B78B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488" t="11160" r="8769" b="9557"/>
              <a:stretch/>
            </p:blipFill>
            <p:spPr>
              <a:xfrm>
                <a:off x="6550227" y="1133409"/>
                <a:ext cx="4945088" cy="5108772"/>
              </a:xfrm>
              <a:prstGeom prst="rect">
                <a:avLst/>
              </a:prstGeom>
            </p:spPr>
          </p:pic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47350605-9A2A-1248-09D9-FA4BF4434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6799" y="822669"/>
                <a:ext cx="822360" cy="809096"/>
              </a:xfrm>
              <a:prstGeom prst="rect">
                <a:avLst/>
              </a:prstGeom>
            </p:spPr>
          </p:pic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4D910F65-83E8-8FD2-49D6-B513488078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89151" y="1700777"/>
                <a:ext cx="677935" cy="677935"/>
              </a:xfrm>
              <a:prstGeom prst="rect">
                <a:avLst/>
              </a:prstGeom>
            </p:spPr>
          </p:pic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9207B2C7-F3FB-44B0-2DFD-6B50B32DC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93285" y="1751449"/>
                <a:ext cx="704850" cy="650240"/>
              </a:xfrm>
              <a:prstGeom prst="rect">
                <a:avLst/>
              </a:prstGeom>
            </p:spPr>
          </p:pic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517B6DB0-446D-07F8-7BFC-DE808303B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68797" y="1004385"/>
                <a:ext cx="604520" cy="627380"/>
              </a:xfrm>
              <a:prstGeom prst="rect">
                <a:avLst/>
              </a:prstGeom>
            </p:spPr>
          </p:pic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52C9009C-9081-64E5-C00A-EEE308951D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2636" y="2045890"/>
                <a:ext cx="704849" cy="755196"/>
              </a:xfrm>
              <a:prstGeom prst="rect">
                <a:avLst/>
              </a:prstGeom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023D931C-A24F-9EE6-3E08-C2CC68CF2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91664" y="2134989"/>
                <a:ext cx="541020" cy="533400"/>
              </a:xfrm>
              <a:prstGeom prst="rect">
                <a:avLst/>
              </a:prstGeom>
            </p:spPr>
          </p:pic>
        </p:grpSp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BDFC0A09-9674-7B65-89AA-8CE212F87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13384" y="2674813"/>
              <a:ext cx="628650" cy="666750"/>
            </a:xfrm>
            <a:prstGeom prst="rect">
              <a:avLst/>
            </a:prstGeom>
          </p:spPr>
        </p:pic>
      </p:grpSp>
      <p:sp>
        <p:nvSpPr>
          <p:cNvPr id="87" name="圆角矩形 4">
            <a:extLst>
              <a:ext uri="{FF2B5EF4-FFF2-40B4-BE49-F238E27FC236}">
                <a16:creationId xmlns:a16="http://schemas.microsoft.com/office/drawing/2014/main" id="{599D1982-B5C9-B7CB-BB96-82A1C24CD141}"/>
              </a:ext>
            </a:extLst>
          </p:cNvPr>
          <p:cNvSpPr/>
          <p:nvPr/>
        </p:nvSpPr>
        <p:spPr>
          <a:xfrm>
            <a:off x="5150331" y="2422034"/>
            <a:ext cx="1883307" cy="66065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transformer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结构</a:t>
            </a:r>
          </a:p>
        </p:txBody>
      </p:sp>
      <p:sp>
        <p:nvSpPr>
          <p:cNvPr id="88" name="圆角矩形 5">
            <a:extLst>
              <a:ext uri="{FF2B5EF4-FFF2-40B4-BE49-F238E27FC236}">
                <a16:creationId xmlns:a16="http://schemas.microsoft.com/office/drawing/2014/main" id="{2922B6EE-B1C0-FAAB-6099-EAFFA49D0458}"/>
              </a:ext>
            </a:extLst>
          </p:cNvPr>
          <p:cNvSpPr/>
          <p:nvPr/>
        </p:nvSpPr>
        <p:spPr>
          <a:xfrm>
            <a:off x="3493368" y="4684117"/>
            <a:ext cx="1948621" cy="5584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预训练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(pretraining)</a:t>
            </a:r>
          </a:p>
        </p:txBody>
      </p:sp>
      <p:sp>
        <p:nvSpPr>
          <p:cNvPr id="89" name="圆角矩形 6">
            <a:extLst>
              <a:ext uri="{FF2B5EF4-FFF2-40B4-BE49-F238E27FC236}">
                <a16:creationId xmlns:a16="http://schemas.microsoft.com/office/drawing/2014/main" id="{1BADFCA7-2796-3D87-6A3D-D33DB75F0237}"/>
              </a:ext>
            </a:extLst>
          </p:cNvPr>
          <p:cNvSpPr/>
          <p:nvPr/>
        </p:nvSpPr>
        <p:spPr>
          <a:xfrm>
            <a:off x="6804199" y="4691740"/>
            <a:ext cx="1649225" cy="550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对齐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(alignment)</a:t>
            </a:r>
          </a:p>
        </p:txBody>
      </p:sp>
      <p:pic>
        <p:nvPicPr>
          <p:cNvPr id="90" name="图形 89" descr="重点">
            <a:extLst>
              <a:ext uri="{FF2B5EF4-FFF2-40B4-BE49-F238E27FC236}">
                <a16:creationId xmlns:a16="http://schemas.microsoft.com/office/drawing/2014/main" id="{C9305869-B350-AC6F-3A2D-08E8F0C46B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6407" y="3638998"/>
            <a:ext cx="611156" cy="61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5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87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6422" name="组合 7"/>
          <p:cNvGrpSpPr/>
          <p:nvPr/>
        </p:nvGrpSpPr>
        <p:grpSpPr bwMode="auto">
          <a:xfrm>
            <a:off x="2365376" y="3219602"/>
            <a:ext cx="3736976" cy="534629"/>
            <a:chOff x="1129" y="-1"/>
            <a:chExt cx="5407385" cy="535340"/>
          </a:xfrm>
        </p:grpSpPr>
        <p:sp>
          <p:nvSpPr>
            <p:cNvPr id="16426" name="矩形 11"/>
            <p:cNvSpPr>
              <a:spLocks noChangeArrowheads="1"/>
            </p:cNvSpPr>
            <p:nvPr/>
          </p:nvSpPr>
          <p:spPr bwMode="auto">
            <a:xfrm>
              <a:off x="1129" y="-1"/>
              <a:ext cx="5402788" cy="53534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27" name="Rectangle 6"/>
            <p:cNvSpPr>
              <a:spLocks noChangeArrowheads="1"/>
            </p:cNvSpPr>
            <p:nvPr/>
          </p:nvSpPr>
          <p:spPr bwMode="auto">
            <a:xfrm>
              <a:off x="532479" y="45775"/>
              <a:ext cx="4876035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Transformer</a:t>
              </a:r>
              <a:endPara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423" name="组合 8"/>
          <p:cNvGrpSpPr/>
          <p:nvPr/>
        </p:nvGrpSpPr>
        <p:grpSpPr bwMode="auto">
          <a:xfrm>
            <a:off x="850900" y="3219603"/>
            <a:ext cx="1328550" cy="488950"/>
            <a:chOff x="0" y="0"/>
            <a:chExt cx="1328685" cy="489600"/>
          </a:xfrm>
        </p:grpSpPr>
        <p:sp>
          <p:nvSpPr>
            <p:cNvPr id="16424" name="矩形 9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5" name="文本框 10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1.1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16" name="组合 14"/>
          <p:cNvGrpSpPr/>
          <p:nvPr/>
        </p:nvGrpSpPr>
        <p:grpSpPr bwMode="auto">
          <a:xfrm>
            <a:off x="2365375" y="3880003"/>
            <a:ext cx="3733800" cy="488950"/>
            <a:chOff x="1129" y="0"/>
            <a:chExt cx="5402789" cy="489600"/>
          </a:xfrm>
        </p:grpSpPr>
        <p:sp>
          <p:nvSpPr>
            <p:cNvPr id="16420" name="矩形 18"/>
            <p:cNvSpPr>
              <a:spLocks noChangeArrowheads="1"/>
            </p:cNvSpPr>
            <p:nvPr/>
          </p:nvSpPr>
          <p:spPr bwMode="auto">
            <a:xfrm>
              <a:off x="1129" y="0"/>
              <a:ext cx="5402789" cy="48960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21" name="Rectangle 6"/>
            <p:cNvSpPr>
              <a:spLocks noChangeArrowheads="1"/>
            </p:cNvSpPr>
            <p:nvPr/>
          </p:nvSpPr>
          <p:spPr bwMode="auto">
            <a:xfrm>
              <a:off x="532478" y="45775"/>
              <a:ext cx="4866845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预训练</a:t>
              </a:r>
            </a:p>
          </p:txBody>
        </p:sp>
      </p:grpSp>
      <p:grpSp>
        <p:nvGrpSpPr>
          <p:cNvPr id="16417" name="组合 15"/>
          <p:cNvGrpSpPr/>
          <p:nvPr/>
        </p:nvGrpSpPr>
        <p:grpSpPr bwMode="auto">
          <a:xfrm>
            <a:off x="850900" y="3880003"/>
            <a:ext cx="1328550" cy="488950"/>
            <a:chOff x="0" y="0"/>
            <a:chExt cx="1328685" cy="489600"/>
          </a:xfrm>
        </p:grpSpPr>
        <p:sp>
          <p:nvSpPr>
            <p:cNvPr id="16418" name="矩形 16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9" name="文本框 17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10" name="组合 21"/>
          <p:cNvGrpSpPr/>
          <p:nvPr/>
        </p:nvGrpSpPr>
        <p:grpSpPr bwMode="auto">
          <a:xfrm>
            <a:off x="2362200" y="4540403"/>
            <a:ext cx="3733800" cy="488950"/>
            <a:chOff x="1129" y="0"/>
            <a:chExt cx="5402789" cy="489600"/>
          </a:xfrm>
        </p:grpSpPr>
        <p:sp>
          <p:nvSpPr>
            <p:cNvPr id="16414" name="矩形 25"/>
            <p:cNvSpPr>
              <a:spLocks noChangeArrowheads="1"/>
            </p:cNvSpPr>
            <p:nvPr/>
          </p:nvSpPr>
          <p:spPr bwMode="auto">
            <a:xfrm>
              <a:off x="1129" y="0"/>
              <a:ext cx="5402789" cy="48960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15" name="Rectangle 6"/>
            <p:cNvSpPr>
              <a:spLocks noChangeArrowheads="1"/>
            </p:cNvSpPr>
            <p:nvPr/>
          </p:nvSpPr>
          <p:spPr bwMode="auto">
            <a:xfrm>
              <a:off x="532478" y="45775"/>
              <a:ext cx="4465679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</a:t>
              </a:r>
            </a:p>
          </p:txBody>
        </p:sp>
      </p:grpSp>
      <p:grpSp>
        <p:nvGrpSpPr>
          <p:cNvPr id="16411" name="组合 22"/>
          <p:cNvGrpSpPr/>
          <p:nvPr/>
        </p:nvGrpSpPr>
        <p:grpSpPr bwMode="auto">
          <a:xfrm>
            <a:off x="847725" y="4540403"/>
            <a:ext cx="1328550" cy="488950"/>
            <a:chOff x="0" y="0"/>
            <a:chExt cx="1328685" cy="489600"/>
          </a:xfrm>
        </p:grpSpPr>
        <p:sp>
          <p:nvSpPr>
            <p:cNvPr id="16412" name="矩形 23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3" name="文本框 24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1.3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392" name="组合 34"/>
          <p:cNvGrpSpPr/>
          <p:nvPr/>
        </p:nvGrpSpPr>
        <p:grpSpPr bwMode="auto">
          <a:xfrm>
            <a:off x="460056" y="1264443"/>
            <a:ext cx="2701925" cy="900113"/>
            <a:chOff x="0" y="0"/>
            <a:chExt cx="2702007" cy="899374"/>
          </a:xfrm>
        </p:grpSpPr>
        <p:grpSp>
          <p:nvGrpSpPr>
            <p:cNvPr id="16400" name="组合 35"/>
            <p:cNvGrpSpPr/>
            <p:nvPr/>
          </p:nvGrpSpPr>
          <p:grpSpPr bwMode="auto">
            <a:xfrm>
              <a:off x="0" y="0"/>
              <a:ext cx="2702007" cy="849531"/>
              <a:chOff x="0" y="0"/>
              <a:chExt cx="2702007" cy="849531"/>
            </a:xfrm>
          </p:grpSpPr>
          <p:sp>
            <p:nvSpPr>
              <p:cNvPr id="16402" name="文本框 3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43256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36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</a:t>
                </a:r>
                <a:r>
                  <a:rPr lang="zh-CN" altLang="en-US" sz="3600" b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录</a:t>
                </a:r>
              </a:p>
            </p:txBody>
          </p:sp>
          <p:cxnSp>
            <p:nvCxnSpPr>
              <p:cNvPr id="16403" name="直接连接符 38"/>
              <p:cNvCxnSpPr>
                <a:cxnSpLocks noChangeShapeType="1"/>
              </p:cNvCxnSpPr>
              <p:nvPr/>
            </p:nvCxnSpPr>
            <p:spPr bwMode="auto">
              <a:xfrm>
                <a:off x="150817" y="850201"/>
                <a:ext cx="255119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401" name="文本框 36"/>
            <p:cNvSpPr txBox="1">
              <a:spLocks noChangeArrowheads="1"/>
            </p:cNvSpPr>
            <p:nvPr/>
          </p:nvSpPr>
          <p:spPr bwMode="auto">
            <a:xfrm>
              <a:off x="527947" y="499264"/>
              <a:ext cx="14325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17F2-DE62-A445-9F03-50055757659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745605" y="953135"/>
            <a:ext cx="2461895" cy="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广州天气还不错。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629150" y="1896745"/>
            <a:ext cx="1280795" cy="3416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087745" y="1892935"/>
            <a:ext cx="1062355" cy="3416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天气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268210" y="1901825"/>
            <a:ext cx="988060" cy="3308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8372475" y="1892935"/>
            <a:ext cx="1411605" cy="3416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629150" y="1468755"/>
            <a:ext cx="1386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分词后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973695" y="1423035"/>
            <a:ext cx="3175" cy="444500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1038225" y="2138045"/>
            <a:ext cx="2557145" cy="3482340"/>
            <a:chOff x="339" y="3516"/>
            <a:chExt cx="4897" cy="6053"/>
          </a:xfrm>
        </p:grpSpPr>
        <p:sp>
          <p:nvSpPr>
            <p:cNvPr id="13" name="圆角矩形 12"/>
            <p:cNvSpPr/>
            <p:nvPr/>
          </p:nvSpPr>
          <p:spPr>
            <a:xfrm>
              <a:off x="339" y="3516"/>
              <a:ext cx="4897" cy="58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168" y="3637"/>
              <a:ext cx="2080" cy="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latin typeface="宋体" panose="02010600030101010101" pitchFamily="2" charset="-122"/>
                  <a:ea typeface="宋体" panose="02010600030101010101" pitchFamily="2" charset="-122"/>
                </a:rPr>
                <a:t>词表</a:t>
              </a: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96" y="45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广州</a:t>
              </a: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2108" y="45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凉爽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600" y="45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原神</a:t>
              </a: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596" y="549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108" y="549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3600" y="549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可以</a:t>
              </a: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596" y="643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天气</a:t>
              </a: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108" y="643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还</a:t>
              </a: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3600" y="643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</a:t>
              </a: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596" y="73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ok</a:t>
              </a: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2108" y="73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不错</a:t>
              </a: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3600" y="7353"/>
              <a:ext cx="1376" cy="847"/>
            </a:xfrm>
            <a:prstGeom prst="roundRect">
              <a:avLst/>
            </a:prstGeom>
            <a:solidFill>
              <a:srgbClr val="C591C5">
                <a:alpha val="21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你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 rot="5400000">
              <a:off x="2436" y="8724"/>
              <a:ext cx="1183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400"/>
                <a:t>……</a:t>
              </a: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004435" y="2711450"/>
            <a:ext cx="5884545" cy="23348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表格 33"/>
          <p:cNvGraphicFramePr/>
          <p:nvPr>
            <p:custDataLst>
              <p:tags r:id="rId1"/>
            </p:custDataLst>
          </p:nvPr>
        </p:nvGraphicFramePr>
        <p:xfrm>
          <a:off x="5199380" y="31222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圆角矩形 35"/>
          <p:cNvSpPr/>
          <p:nvPr/>
        </p:nvSpPr>
        <p:spPr>
          <a:xfrm>
            <a:off x="9900285" y="1907540"/>
            <a:ext cx="988060" cy="3308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6745605" y="31222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/>
          <p:nvPr>
            <p:custDataLst>
              <p:tags r:id="rId3"/>
            </p:custDataLst>
          </p:nvPr>
        </p:nvGraphicFramePr>
        <p:xfrm>
          <a:off x="8256270" y="31222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/>
          <p:nvPr>
            <p:custDataLst>
              <p:tags r:id="rId4"/>
            </p:custDataLst>
          </p:nvPr>
        </p:nvGraphicFramePr>
        <p:xfrm>
          <a:off x="9599295" y="31222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/>
          <p:nvPr>
            <p:custDataLst>
              <p:tags r:id="rId5"/>
            </p:custDataLst>
          </p:nvPr>
        </p:nvGraphicFramePr>
        <p:xfrm>
          <a:off x="5212080" y="38080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/>
          <p:nvPr>
            <p:custDataLst>
              <p:tags r:id="rId6"/>
            </p:custDataLst>
          </p:nvPr>
        </p:nvGraphicFramePr>
        <p:xfrm>
          <a:off x="6758305" y="38080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/>
          <p:nvPr>
            <p:custDataLst>
              <p:tags r:id="rId7"/>
            </p:custDataLst>
          </p:nvPr>
        </p:nvGraphicFramePr>
        <p:xfrm>
          <a:off x="8268970" y="38080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/>
          <p:nvPr>
            <p:custDataLst>
              <p:tags r:id="rId8"/>
            </p:custDataLst>
          </p:nvPr>
        </p:nvGraphicFramePr>
        <p:xfrm>
          <a:off x="9611995" y="38080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/>
          <p:nvPr>
            <p:custDataLst>
              <p:tags r:id="rId9"/>
            </p:custDataLst>
          </p:nvPr>
        </p:nvGraphicFramePr>
        <p:xfrm>
          <a:off x="5224780" y="45573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/>
          <p:nvPr>
            <p:custDataLst>
              <p:tags r:id="rId10"/>
            </p:custDataLst>
          </p:nvPr>
        </p:nvGraphicFramePr>
        <p:xfrm>
          <a:off x="6771005" y="45573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/>
          <p:nvPr>
            <p:custDataLst>
              <p:tags r:id="rId11"/>
            </p:custDataLst>
          </p:nvPr>
        </p:nvGraphicFramePr>
        <p:xfrm>
          <a:off x="8281670" y="45573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/>
          <p:nvPr>
            <p:custDataLst>
              <p:tags r:id="rId12"/>
            </p:custDataLst>
          </p:nvPr>
        </p:nvGraphicFramePr>
        <p:xfrm>
          <a:off x="9624695" y="455739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5133975" y="279781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6758305" y="281432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凉爽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255635" y="280860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原神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9533890" y="281432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161280" y="422465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不错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745605" y="422465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你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8232775" y="423735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9586595" y="422465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6555105" y="3564255"/>
            <a:ext cx="2866390" cy="6699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嵌入层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14925" y="349250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好的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9523095" y="350901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待会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3605530" y="2606040"/>
            <a:ext cx="1130935" cy="68135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V="1">
            <a:off x="3595370" y="4490085"/>
            <a:ext cx="1154430" cy="556260"/>
          </a:xfrm>
          <a:prstGeom prst="line">
            <a:avLst/>
          </a:prstGeom>
          <a:ln w="9525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2015" y="3275330"/>
            <a:ext cx="312420" cy="1226820"/>
          </a:xfrm>
          <a:prstGeom prst="rect">
            <a:avLst/>
          </a:prstGeom>
        </p:spPr>
      </p:pic>
      <p:cxnSp>
        <p:nvCxnSpPr>
          <p:cNvPr id="77" name="直接箭头连接符 76"/>
          <p:cNvCxnSpPr/>
          <p:nvPr/>
        </p:nvCxnSpPr>
        <p:spPr>
          <a:xfrm flipH="1">
            <a:off x="7976870" y="2207895"/>
            <a:ext cx="3175" cy="444500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8" name="表格 77"/>
          <p:cNvGraphicFramePr/>
          <p:nvPr>
            <p:custDataLst>
              <p:tags r:id="rId13"/>
            </p:custDataLst>
          </p:nvPr>
        </p:nvGraphicFramePr>
        <p:xfrm>
          <a:off x="4723765" y="6037580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文本框 78"/>
          <p:cNvSpPr txBox="1"/>
          <p:nvPr/>
        </p:nvSpPr>
        <p:spPr>
          <a:xfrm>
            <a:off x="4873625" y="562038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</a:p>
        </p:txBody>
      </p:sp>
      <p:graphicFrame>
        <p:nvGraphicFramePr>
          <p:cNvPr id="80" name="表格 79"/>
          <p:cNvGraphicFramePr/>
          <p:nvPr>
            <p:custDataLst>
              <p:tags r:id="rId14"/>
            </p:custDataLst>
          </p:nvPr>
        </p:nvGraphicFramePr>
        <p:xfrm>
          <a:off x="6003290" y="6050280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文本框 80"/>
          <p:cNvSpPr txBox="1"/>
          <p:nvPr/>
        </p:nvSpPr>
        <p:spPr>
          <a:xfrm>
            <a:off x="6181090" y="564578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天气</a:t>
            </a:r>
          </a:p>
        </p:txBody>
      </p:sp>
      <p:graphicFrame>
        <p:nvGraphicFramePr>
          <p:cNvPr id="82" name="表格 81"/>
          <p:cNvGraphicFramePr/>
          <p:nvPr>
            <p:custDataLst>
              <p:tags r:id="rId15"/>
            </p:custDataLst>
          </p:nvPr>
        </p:nvGraphicFramePr>
        <p:xfrm>
          <a:off x="7285355" y="6037580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文本框 82"/>
          <p:cNvSpPr txBox="1"/>
          <p:nvPr/>
        </p:nvSpPr>
        <p:spPr>
          <a:xfrm>
            <a:off x="7503160" y="566674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还</a:t>
            </a:r>
          </a:p>
        </p:txBody>
      </p:sp>
      <p:graphicFrame>
        <p:nvGraphicFramePr>
          <p:cNvPr id="84" name="表格 83"/>
          <p:cNvGraphicFramePr/>
          <p:nvPr>
            <p:custDataLst>
              <p:tags r:id="rId16"/>
            </p:custDataLst>
          </p:nvPr>
        </p:nvGraphicFramePr>
        <p:xfrm>
          <a:off x="8561070" y="6037580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8700770" y="5679440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不错</a:t>
            </a:r>
          </a:p>
        </p:txBody>
      </p:sp>
      <p:graphicFrame>
        <p:nvGraphicFramePr>
          <p:cNvPr id="86" name="表格 85"/>
          <p:cNvGraphicFramePr/>
          <p:nvPr>
            <p:custDataLst>
              <p:tags r:id="rId17"/>
            </p:custDataLst>
          </p:nvPr>
        </p:nvGraphicFramePr>
        <p:xfrm>
          <a:off x="9794240" y="6014085"/>
          <a:ext cx="103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" name="文本框 86"/>
          <p:cNvSpPr txBox="1"/>
          <p:nvPr/>
        </p:nvSpPr>
        <p:spPr>
          <a:xfrm>
            <a:off x="10099040" y="5681345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cxnSp>
        <p:nvCxnSpPr>
          <p:cNvPr id="90" name="直接箭头连接符 89"/>
          <p:cNvCxnSpPr/>
          <p:nvPr/>
        </p:nvCxnSpPr>
        <p:spPr>
          <a:xfrm flipH="1">
            <a:off x="7995920" y="5086985"/>
            <a:ext cx="3175" cy="444500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0BE028F-0DCA-7488-635F-F2B37BE33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F86FDBE9-93A3-6370-3F9E-AB64E694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DEBB4F-4AC2-1F3C-0567-3095AB238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432607-5E40-625B-CF56-F5B257DBE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1870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C62D33D-9DD4-8C26-D9A2-C48394D09E1C}"/>
              </a:ext>
            </a:extLst>
          </p:cNvPr>
          <p:cNvGrpSpPr/>
          <p:nvPr/>
        </p:nvGrpSpPr>
        <p:grpSpPr>
          <a:xfrm>
            <a:off x="5217018" y="2013251"/>
            <a:ext cx="2461895" cy="3361055"/>
            <a:chOff x="7908" y="2633"/>
            <a:chExt cx="3877" cy="5293"/>
          </a:xfrm>
        </p:grpSpPr>
        <p:pic>
          <p:nvPicPr>
            <p:cNvPr id="51" name="图形 3" descr="瓦楞纸盒子">
              <a:extLst>
                <a:ext uri="{FF2B5EF4-FFF2-40B4-BE49-F238E27FC236}">
                  <a16:creationId xmlns:a16="http://schemas.microsoft.com/office/drawing/2014/main" id="{440567A4-D5E9-C636-3841-596C81E2E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583" y="4110"/>
              <a:ext cx="2513" cy="2513"/>
            </a:xfrm>
            <a:prstGeom prst="rect">
              <a:avLst/>
            </a:prstGeom>
          </p:spPr>
        </p:pic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A4DAB94-30B5-E574-4BC9-0CF613504C52}"/>
                </a:ext>
              </a:extLst>
            </p:cNvPr>
            <p:cNvSpPr/>
            <p:nvPr/>
          </p:nvSpPr>
          <p:spPr>
            <a:xfrm>
              <a:off x="7908" y="7186"/>
              <a:ext cx="3877" cy="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广州天气还不错。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8B9D55F7-B7C0-9EED-BAEB-B5264A1605D5}"/>
                </a:ext>
              </a:extLst>
            </p:cNvPr>
            <p:cNvCxnSpPr>
              <a:stCxn id="53" idx="0"/>
              <a:endCxn id="51" idx="2"/>
            </p:cNvCxnSpPr>
            <p:nvPr/>
          </p:nvCxnSpPr>
          <p:spPr>
            <a:xfrm flipH="1" flipV="1">
              <a:off x="9840" y="6623"/>
              <a:ext cx="7" cy="5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FB05A84C-713B-88BA-1A7E-8AAA6107CB16}"/>
                </a:ext>
              </a:extLst>
            </p:cNvPr>
            <p:cNvCxnSpPr/>
            <p:nvPr/>
          </p:nvCxnSpPr>
          <p:spPr>
            <a:xfrm flipH="1" flipV="1">
              <a:off x="9833" y="3650"/>
              <a:ext cx="7" cy="5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文本框 48">
              <a:extLst>
                <a:ext uri="{FF2B5EF4-FFF2-40B4-BE49-F238E27FC236}">
                  <a16:creationId xmlns:a16="http://schemas.microsoft.com/office/drawing/2014/main" id="{5FC9094F-808B-05C6-1166-D4EBC33D0221}"/>
                </a:ext>
              </a:extLst>
            </p:cNvPr>
            <p:cNvSpPr txBox="1"/>
            <p:nvPr/>
          </p:nvSpPr>
          <p:spPr>
            <a:xfrm>
              <a:off x="9600" y="2633"/>
              <a:ext cx="81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4000" dirty="0"/>
                <a:t>?</a:t>
              </a:r>
              <a:endParaRPr lang="zh-CN" altLang="en-US" sz="4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/>
      <p:bldP spid="33" grpId="0" animBg="1"/>
      <p:bldP spid="36" grpId="0" animBg="1"/>
      <p:bldP spid="52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5" grpId="0"/>
      <p:bldP spid="66" grpId="0"/>
      <p:bldP spid="79" grpId="0"/>
      <p:bldP spid="81" grpId="0"/>
      <p:bldP spid="83" grpId="0"/>
      <p:bldP spid="85" grpId="0"/>
      <p:bldP spid="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表格 7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034942"/>
              </p:ext>
            </p:extLst>
          </p:nvPr>
        </p:nvGraphicFramePr>
        <p:xfrm>
          <a:off x="1023620" y="5346752"/>
          <a:ext cx="1524000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文本框 78"/>
          <p:cNvSpPr txBox="1"/>
          <p:nvPr/>
        </p:nvSpPr>
        <p:spPr>
          <a:xfrm>
            <a:off x="1394460" y="5876977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</a:p>
        </p:txBody>
      </p:sp>
      <p:graphicFrame>
        <p:nvGraphicFramePr>
          <p:cNvPr id="80" name="表格 79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0059723"/>
              </p:ext>
            </p:extLst>
          </p:nvPr>
        </p:nvGraphicFramePr>
        <p:xfrm>
          <a:off x="2962910" y="5346752"/>
          <a:ext cx="1524000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文本框 80"/>
          <p:cNvSpPr txBox="1"/>
          <p:nvPr/>
        </p:nvSpPr>
        <p:spPr>
          <a:xfrm>
            <a:off x="3460750" y="5876977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天气</a:t>
            </a:r>
          </a:p>
        </p:txBody>
      </p:sp>
      <p:graphicFrame>
        <p:nvGraphicFramePr>
          <p:cNvPr id="82" name="表格 81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5743327"/>
              </p:ext>
            </p:extLst>
          </p:nvPr>
        </p:nvGraphicFramePr>
        <p:xfrm>
          <a:off x="4925060" y="5363262"/>
          <a:ext cx="1524000" cy="37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" name="文本框 82"/>
          <p:cNvSpPr txBox="1"/>
          <p:nvPr/>
        </p:nvSpPr>
        <p:spPr>
          <a:xfrm>
            <a:off x="5456555" y="5875072"/>
            <a:ext cx="793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还</a:t>
            </a:r>
          </a:p>
        </p:txBody>
      </p:sp>
      <p:graphicFrame>
        <p:nvGraphicFramePr>
          <p:cNvPr id="84" name="表格 83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24848247"/>
              </p:ext>
            </p:extLst>
          </p:nvPr>
        </p:nvGraphicFramePr>
        <p:xfrm>
          <a:off x="8766175" y="5367707"/>
          <a:ext cx="1524000" cy="37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7105650" y="5875072"/>
            <a:ext cx="103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不错</a:t>
            </a:r>
          </a:p>
        </p:txBody>
      </p:sp>
      <p:graphicFrame>
        <p:nvGraphicFramePr>
          <p:cNvPr id="86" name="表格 85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212329494"/>
              </p:ext>
            </p:extLst>
          </p:nvPr>
        </p:nvGraphicFramePr>
        <p:xfrm>
          <a:off x="6828790" y="5346752"/>
          <a:ext cx="1524000" cy="40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" name="文本框 86"/>
          <p:cNvSpPr txBox="1"/>
          <p:nvPr/>
        </p:nvSpPr>
        <p:spPr>
          <a:xfrm>
            <a:off x="9403715" y="5875072"/>
            <a:ext cx="6521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449229766"/>
              </p:ext>
            </p:extLst>
          </p:nvPr>
        </p:nvGraphicFramePr>
        <p:xfrm>
          <a:off x="998220" y="3311577"/>
          <a:ext cx="1524000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522052362"/>
              </p:ext>
            </p:extLst>
          </p:nvPr>
        </p:nvGraphicFramePr>
        <p:xfrm>
          <a:off x="2960370" y="3311577"/>
          <a:ext cx="1524000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21574284"/>
              </p:ext>
            </p:extLst>
          </p:nvPr>
        </p:nvGraphicFramePr>
        <p:xfrm>
          <a:off x="4922520" y="3328087"/>
          <a:ext cx="1524000" cy="37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21278433"/>
              </p:ext>
            </p:extLst>
          </p:nvPr>
        </p:nvGraphicFramePr>
        <p:xfrm>
          <a:off x="8757920" y="3332532"/>
          <a:ext cx="1524000" cy="37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550225094"/>
              </p:ext>
            </p:extLst>
          </p:nvPr>
        </p:nvGraphicFramePr>
        <p:xfrm>
          <a:off x="6836410" y="3311577"/>
          <a:ext cx="1524000" cy="40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72820" y="4810177"/>
            <a:ext cx="903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47420" y="2798497"/>
            <a:ext cx="903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</a:p>
        </p:txBody>
      </p:sp>
      <p:cxnSp>
        <p:nvCxnSpPr>
          <p:cNvPr id="26" name="直接连接符 25"/>
          <p:cNvCxnSpPr>
            <a:cxnSpLocks/>
            <a:stCxn id="4" idx="2"/>
          </p:cNvCxnSpPr>
          <p:nvPr/>
        </p:nvCxnSpPr>
        <p:spPr>
          <a:xfrm flipH="1">
            <a:off x="1759585" y="3716707"/>
            <a:ext cx="635" cy="1652270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6" idx="2"/>
            <a:endCxn id="80" idx="0"/>
          </p:cNvCxnSpPr>
          <p:nvPr/>
        </p:nvCxnSpPr>
        <p:spPr>
          <a:xfrm>
            <a:off x="3722370" y="3716707"/>
            <a:ext cx="2540" cy="1630045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6" idx="2"/>
            <a:endCxn id="78" idx="0"/>
          </p:cNvCxnSpPr>
          <p:nvPr/>
        </p:nvCxnSpPr>
        <p:spPr>
          <a:xfrm flipH="1">
            <a:off x="1785620" y="3716707"/>
            <a:ext cx="1936750" cy="1630045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2"/>
            <a:endCxn id="82" idx="0"/>
          </p:cNvCxnSpPr>
          <p:nvPr/>
        </p:nvCxnSpPr>
        <p:spPr>
          <a:xfrm>
            <a:off x="5684520" y="3705912"/>
            <a:ext cx="2540" cy="165735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8" idx="2"/>
            <a:endCxn id="80" idx="0"/>
          </p:cNvCxnSpPr>
          <p:nvPr/>
        </p:nvCxnSpPr>
        <p:spPr>
          <a:xfrm flipH="1">
            <a:off x="3724910" y="3705912"/>
            <a:ext cx="1959610" cy="164084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8" idx="2"/>
            <a:endCxn id="78" idx="0"/>
          </p:cNvCxnSpPr>
          <p:nvPr/>
        </p:nvCxnSpPr>
        <p:spPr>
          <a:xfrm flipH="1">
            <a:off x="1785620" y="3705912"/>
            <a:ext cx="3898900" cy="164084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2" idx="2"/>
            <a:endCxn id="86" idx="0"/>
          </p:cNvCxnSpPr>
          <p:nvPr/>
        </p:nvCxnSpPr>
        <p:spPr>
          <a:xfrm flipH="1">
            <a:off x="7590790" y="3711627"/>
            <a:ext cx="7620" cy="163512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2" idx="2"/>
            <a:endCxn id="82" idx="0"/>
          </p:cNvCxnSpPr>
          <p:nvPr/>
        </p:nvCxnSpPr>
        <p:spPr>
          <a:xfrm flipH="1">
            <a:off x="5687060" y="3711627"/>
            <a:ext cx="1911350" cy="165163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2" idx="2"/>
            <a:endCxn id="80" idx="0"/>
          </p:cNvCxnSpPr>
          <p:nvPr/>
        </p:nvCxnSpPr>
        <p:spPr>
          <a:xfrm flipH="1">
            <a:off x="3724910" y="3711627"/>
            <a:ext cx="3873500" cy="163512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12" idx="2"/>
            <a:endCxn id="78" idx="0"/>
          </p:cNvCxnSpPr>
          <p:nvPr/>
        </p:nvCxnSpPr>
        <p:spPr>
          <a:xfrm flipH="1">
            <a:off x="1785620" y="3711627"/>
            <a:ext cx="5812790" cy="1635125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0" idx="2"/>
            <a:endCxn id="84" idx="0"/>
          </p:cNvCxnSpPr>
          <p:nvPr/>
        </p:nvCxnSpPr>
        <p:spPr>
          <a:xfrm>
            <a:off x="9519920" y="3710992"/>
            <a:ext cx="8255" cy="165671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10" idx="2"/>
            <a:endCxn id="86" idx="0"/>
          </p:cNvCxnSpPr>
          <p:nvPr/>
        </p:nvCxnSpPr>
        <p:spPr>
          <a:xfrm flipH="1">
            <a:off x="7590790" y="3710992"/>
            <a:ext cx="1929130" cy="16357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0" idx="2"/>
            <a:endCxn id="82" idx="0"/>
          </p:cNvCxnSpPr>
          <p:nvPr/>
        </p:nvCxnSpPr>
        <p:spPr>
          <a:xfrm flipH="1">
            <a:off x="5687060" y="3710992"/>
            <a:ext cx="3832860" cy="16522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10" idx="2"/>
            <a:endCxn id="80" idx="0"/>
          </p:cNvCxnSpPr>
          <p:nvPr/>
        </p:nvCxnSpPr>
        <p:spPr>
          <a:xfrm flipH="1">
            <a:off x="3724910" y="3710992"/>
            <a:ext cx="5795010" cy="16357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10" idx="2"/>
            <a:endCxn id="78" idx="0"/>
          </p:cNvCxnSpPr>
          <p:nvPr/>
        </p:nvCxnSpPr>
        <p:spPr>
          <a:xfrm flipH="1">
            <a:off x="1785620" y="3710992"/>
            <a:ext cx="7734300" cy="16357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89280" y="1754154"/>
            <a:ext cx="10085705" cy="4608597"/>
          </a:xfrm>
          <a:prstGeom prst="rect">
            <a:avLst/>
          </a:prstGeom>
          <a:noFill/>
          <a:ln w="25400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7530" y="3813291"/>
            <a:ext cx="157226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N Times</a:t>
            </a: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711D60F-53A5-E879-68D3-B386BEE83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FD881783-3096-B862-EFA8-48BB5AF23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2C4DF629-41DB-6218-EEBB-BE926F981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4DF2AD-9437-D916-0F52-DBDBBC6B2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3906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自注意力机制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DB8F78B-4FAB-3E8C-2413-F97FC4FB4FF1}"/>
              </a:ext>
            </a:extLst>
          </p:cNvPr>
          <p:cNvGrpSpPr/>
          <p:nvPr/>
        </p:nvGrpSpPr>
        <p:grpSpPr>
          <a:xfrm>
            <a:off x="1199477" y="2018279"/>
            <a:ext cx="1196583" cy="735937"/>
            <a:chOff x="4485069" y="835090"/>
            <a:chExt cx="1610931" cy="913709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4714B9E-1ABB-DBB2-AD7E-88E6C42BD824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BD0BAE9-6C15-2799-DBA5-B1BBC8558D1B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D0FE6DD-C192-01C1-B43C-05C63FC2C7C1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F868235-FCD9-A446-7095-5A20FCD11FFF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F1C0923-A939-94B9-9F14-9AA879BDB92C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9FC5EA5-8E83-4C29-D531-96B438A185A2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05A6884-A215-91DE-DB05-2206F95889D9}"/>
                </a:ext>
              </a:extLst>
            </p:cNvPr>
            <p:cNvCxnSpPr>
              <a:cxnSpLocks/>
              <a:stCxn id="15" idx="4"/>
              <a:endCxn id="19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4F96003-BDCB-A68E-C0D3-3255214FBFEC}"/>
                </a:ext>
              </a:extLst>
            </p:cNvPr>
            <p:cNvCxnSpPr>
              <a:cxnSpLocks/>
              <a:stCxn id="18" idx="4"/>
              <a:endCxn id="20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9A342CE-7551-09CA-EB76-5A998EC8D6BA}"/>
                </a:ext>
              </a:extLst>
            </p:cNvPr>
            <p:cNvCxnSpPr>
              <a:cxnSpLocks/>
              <a:stCxn id="17" idx="4"/>
              <a:endCxn id="20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A368F73-0132-F352-BC75-A41E0EEC7858}"/>
                </a:ext>
              </a:extLst>
            </p:cNvPr>
            <p:cNvCxnSpPr>
              <a:cxnSpLocks/>
              <a:stCxn id="16" idx="4"/>
              <a:endCxn id="19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29D55F0-8388-7E98-01FA-7F1B860843C2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3F1CA44-4CE2-33A0-4D21-E07860988071}"/>
                </a:ext>
              </a:extLst>
            </p:cNvPr>
            <p:cNvCxnSpPr>
              <a:cxnSpLocks/>
              <a:stCxn id="17" idx="4"/>
              <a:endCxn id="19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55F725E-B339-87C0-87E8-E000FD12ABB3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8BEEEF0-323A-8193-0121-E32D026F8E9F}"/>
                </a:ext>
              </a:extLst>
            </p:cNvPr>
            <p:cNvCxnSpPr>
              <a:cxnSpLocks/>
              <a:stCxn id="15" idx="4"/>
              <a:endCxn id="20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2C3A8CB-CD3C-BEE3-40FE-743D8E94D032}"/>
              </a:ext>
            </a:extLst>
          </p:cNvPr>
          <p:cNvGrpSpPr/>
          <p:nvPr/>
        </p:nvGrpSpPr>
        <p:grpSpPr>
          <a:xfrm>
            <a:off x="3124078" y="2018280"/>
            <a:ext cx="1196583" cy="735937"/>
            <a:chOff x="4485069" y="835090"/>
            <a:chExt cx="1610931" cy="913709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9D48879-D9AA-15ED-5C50-5D8B27188A3F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A2DDCA2-FE26-13DF-A67D-EDEC807ED071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13A57DCD-07CA-4782-ABD4-77E37B66F1A8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CBC5F8F1-63B1-21B6-58E9-948ADD9A1D10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E0E098FD-19A6-9CB9-D128-63329DA69AA4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081C416-AE46-F832-9101-24EFD89478C2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3EC9A1B-9802-4404-FEA2-84AC9FF1F0B8}"/>
                </a:ext>
              </a:extLst>
            </p:cNvPr>
            <p:cNvCxnSpPr>
              <a:cxnSpLocks/>
              <a:stCxn id="46" idx="4"/>
              <a:endCxn id="50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DAFB5F1-2209-E831-B7E1-D3BB6B33A876}"/>
                </a:ext>
              </a:extLst>
            </p:cNvPr>
            <p:cNvCxnSpPr>
              <a:cxnSpLocks/>
              <a:stCxn id="49" idx="4"/>
              <a:endCxn id="51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304DD0A-0706-F708-7339-366545FD5B45}"/>
                </a:ext>
              </a:extLst>
            </p:cNvPr>
            <p:cNvCxnSpPr>
              <a:cxnSpLocks/>
              <a:stCxn id="48" idx="4"/>
              <a:endCxn id="51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FFA6223-BD32-265C-5442-E72184F2524A}"/>
                </a:ext>
              </a:extLst>
            </p:cNvPr>
            <p:cNvCxnSpPr>
              <a:cxnSpLocks/>
              <a:stCxn id="47" idx="4"/>
              <a:endCxn id="50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775271F-A0D9-211E-66AB-8E4436A79FF7}"/>
                </a:ext>
              </a:extLst>
            </p:cNvPr>
            <p:cNvCxnSpPr>
              <a:cxnSpLocks/>
              <a:stCxn id="47" idx="4"/>
              <a:endCxn id="51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C679F9E-0933-EE08-9B82-B616C2914C94}"/>
                </a:ext>
              </a:extLst>
            </p:cNvPr>
            <p:cNvCxnSpPr>
              <a:cxnSpLocks/>
              <a:stCxn id="48" idx="4"/>
              <a:endCxn id="50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371EA9D-34F4-07BD-CA5D-51D25FDBBE99}"/>
                </a:ext>
              </a:extLst>
            </p:cNvPr>
            <p:cNvCxnSpPr>
              <a:cxnSpLocks/>
              <a:stCxn id="49" idx="4"/>
              <a:endCxn id="50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EE67EEF-8B0F-2B8A-5395-EAFD4148EC6E}"/>
                </a:ext>
              </a:extLst>
            </p:cNvPr>
            <p:cNvCxnSpPr>
              <a:cxnSpLocks/>
              <a:stCxn id="46" idx="4"/>
              <a:endCxn id="51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4D14D34-4356-6C42-8DCA-CD68AFDB22E7}"/>
              </a:ext>
            </a:extLst>
          </p:cNvPr>
          <p:cNvGrpSpPr/>
          <p:nvPr/>
        </p:nvGrpSpPr>
        <p:grpSpPr>
          <a:xfrm>
            <a:off x="5048679" y="2030555"/>
            <a:ext cx="1196583" cy="735937"/>
            <a:chOff x="4485069" y="835090"/>
            <a:chExt cx="1610931" cy="913709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655F9D88-AE3A-FD4F-96C4-A32CB7D78BCC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658B7C4E-43CC-8A95-2203-F09700F1F929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6EACC1E-5678-DB80-82BA-A79315A4AB8E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058C4C8-CFEA-B0D7-2F11-3E70A4122B6D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8B492C64-F312-D2E9-E38B-A71C26EAE14B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15BF052-C443-CC47-06D3-5F6C7ED9901B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612B925-1950-7DD3-7029-AB0DA4CC2203}"/>
                </a:ext>
              </a:extLst>
            </p:cNvPr>
            <p:cNvCxnSpPr>
              <a:cxnSpLocks/>
              <a:stCxn id="61" idx="4"/>
              <a:endCxn id="65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55F80F3-5F14-5DC3-0F1A-458F52FBC982}"/>
                </a:ext>
              </a:extLst>
            </p:cNvPr>
            <p:cNvCxnSpPr>
              <a:cxnSpLocks/>
              <a:stCxn id="64" idx="4"/>
              <a:endCxn id="66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9B27AA-F9A0-9256-37FD-F17D356A58D1}"/>
                </a:ext>
              </a:extLst>
            </p:cNvPr>
            <p:cNvCxnSpPr>
              <a:cxnSpLocks/>
              <a:stCxn id="63" idx="4"/>
              <a:endCxn id="66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1D03DE1-AAB9-906A-1980-74707E272C02}"/>
                </a:ext>
              </a:extLst>
            </p:cNvPr>
            <p:cNvCxnSpPr>
              <a:cxnSpLocks/>
              <a:stCxn id="62" idx="4"/>
              <a:endCxn id="65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98B1C417-F63D-9A47-4919-7F0C7759DC9C}"/>
                </a:ext>
              </a:extLst>
            </p:cNvPr>
            <p:cNvCxnSpPr>
              <a:cxnSpLocks/>
              <a:stCxn id="62" idx="4"/>
              <a:endCxn id="66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9265E59-24FF-CC3F-358F-C0A1A0FCDEB9}"/>
                </a:ext>
              </a:extLst>
            </p:cNvPr>
            <p:cNvCxnSpPr>
              <a:cxnSpLocks/>
              <a:stCxn id="63" idx="4"/>
              <a:endCxn id="65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31418C-AE2B-0514-F68E-5505914BF601}"/>
                </a:ext>
              </a:extLst>
            </p:cNvPr>
            <p:cNvCxnSpPr>
              <a:cxnSpLocks/>
              <a:stCxn id="64" idx="4"/>
              <a:endCxn id="65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3E750F0-5531-66DB-841C-8379971F84D3}"/>
                </a:ext>
              </a:extLst>
            </p:cNvPr>
            <p:cNvCxnSpPr>
              <a:cxnSpLocks/>
              <a:stCxn id="61" idx="4"/>
              <a:endCxn id="66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846F136-2AF7-9392-7474-40617F87EC25}"/>
              </a:ext>
            </a:extLst>
          </p:cNvPr>
          <p:cNvGrpSpPr/>
          <p:nvPr/>
        </p:nvGrpSpPr>
        <p:grpSpPr>
          <a:xfrm>
            <a:off x="7022025" y="2030555"/>
            <a:ext cx="1196583" cy="735937"/>
            <a:chOff x="4485069" y="835090"/>
            <a:chExt cx="1610931" cy="913709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AF7A6F7-02B4-53D3-4AA6-AFD25299E988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A95E456D-CE81-9694-927C-C167352A0600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DFCB01EA-825D-0C01-29A2-8174D8CA8210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7A110B8A-86E6-DC08-8351-D818D66B2055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740B7D39-33DE-C984-3CDD-9AA67E7907FF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AAC8AD47-61D3-7BCF-36A1-96EAA71F3AEA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F4908B6E-6A6E-547B-0BBA-170FFD58E629}"/>
                </a:ext>
              </a:extLst>
            </p:cNvPr>
            <p:cNvCxnSpPr>
              <a:cxnSpLocks/>
              <a:stCxn id="76" idx="4"/>
              <a:endCxn id="90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1FA231FB-C43B-0C2A-07AE-EEA580C5AF2C}"/>
                </a:ext>
              </a:extLst>
            </p:cNvPr>
            <p:cNvCxnSpPr>
              <a:cxnSpLocks/>
              <a:stCxn id="89" idx="4"/>
              <a:endCxn id="91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83FE2055-9B83-DD8D-0242-45AC496B1B98}"/>
                </a:ext>
              </a:extLst>
            </p:cNvPr>
            <p:cNvCxnSpPr>
              <a:cxnSpLocks/>
              <a:stCxn id="88" idx="4"/>
              <a:endCxn id="91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6B7D6D7-4D71-2F93-6092-A235F3869BD6}"/>
                </a:ext>
              </a:extLst>
            </p:cNvPr>
            <p:cNvCxnSpPr>
              <a:cxnSpLocks/>
              <a:stCxn id="77" idx="4"/>
              <a:endCxn id="90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04813420-E308-395F-66DE-64E5928CDEC0}"/>
                </a:ext>
              </a:extLst>
            </p:cNvPr>
            <p:cNvCxnSpPr>
              <a:cxnSpLocks/>
              <a:stCxn id="77" idx="4"/>
              <a:endCxn id="91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843A58FE-B292-1280-B640-B6658D02E7C1}"/>
                </a:ext>
              </a:extLst>
            </p:cNvPr>
            <p:cNvCxnSpPr>
              <a:cxnSpLocks/>
              <a:stCxn id="88" idx="4"/>
              <a:endCxn id="90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18108F8C-09AB-1F62-8067-6DFEF437E628}"/>
                </a:ext>
              </a:extLst>
            </p:cNvPr>
            <p:cNvCxnSpPr>
              <a:cxnSpLocks/>
              <a:stCxn id="89" idx="4"/>
              <a:endCxn id="90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A5F7700-12AB-1EB7-FD26-635824E946D2}"/>
                </a:ext>
              </a:extLst>
            </p:cNvPr>
            <p:cNvCxnSpPr>
              <a:cxnSpLocks/>
              <a:stCxn id="76" idx="4"/>
              <a:endCxn id="91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8ECD0D7-F4D1-2A0D-A750-7DD5D284B142}"/>
              </a:ext>
            </a:extLst>
          </p:cNvPr>
          <p:cNvGrpSpPr/>
          <p:nvPr/>
        </p:nvGrpSpPr>
        <p:grpSpPr>
          <a:xfrm>
            <a:off x="8914851" y="2042831"/>
            <a:ext cx="1196583" cy="735937"/>
            <a:chOff x="4485069" y="835090"/>
            <a:chExt cx="1610931" cy="913709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7020D211-FB6D-E68A-0428-05A928AB49BB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85A939F7-DDDC-3DBC-FF86-B27A9F3F5059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2E74D753-67BD-A9EE-5C3C-0D902F7F9EB0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B47CBE9B-787A-8AA9-90BD-9E895DD5E1D7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2F7FBA7C-6B5E-1EAD-1681-67F2DE53C748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DFCF40C3-206E-F28E-94A3-5090A2AF3F62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AED423D-8248-3389-7CFB-9E4068450D34}"/>
                </a:ext>
              </a:extLst>
            </p:cNvPr>
            <p:cNvCxnSpPr>
              <a:cxnSpLocks/>
              <a:stCxn id="101" idx="4"/>
              <a:endCxn id="105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A8F70F98-F8E4-566A-5AC4-67F9BE65C44D}"/>
                </a:ext>
              </a:extLst>
            </p:cNvPr>
            <p:cNvCxnSpPr>
              <a:cxnSpLocks/>
              <a:stCxn id="104" idx="4"/>
              <a:endCxn id="106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AFC5876-6F9A-1123-4B69-DA453843C507}"/>
                </a:ext>
              </a:extLst>
            </p:cNvPr>
            <p:cNvCxnSpPr>
              <a:cxnSpLocks/>
              <a:stCxn id="103" idx="4"/>
              <a:endCxn id="106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A4E45EC4-730A-0E83-2BB7-CBEC7473E924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7FE4090-AA5A-8A70-85E9-92EB290A4AEB}"/>
                </a:ext>
              </a:extLst>
            </p:cNvPr>
            <p:cNvCxnSpPr>
              <a:cxnSpLocks/>
              <a:stCxn id="102" idx="4"/>
              <a:endCxn id="106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D479B491-D298-789A-85D7-F3C351A85A6A}"/>
                </a:ext>
              </a:extLst>
            </p:cNvPr>
            <p:cNvCxnSpPr>
              <a:cxnSpLocks/>
              <a:stCxn id="103" idx="4"/>
              <a:endCxn id="105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2CEBA1D1-72A5-2F4A-A203-2E5750C4F1ED}"/>
                </a:ext>
              </a:extLst>
            </p:cNvPr>
            <p:cNvCxnSpPr>
              <a:cxnSpLocks/>
              <a:stCxn id="104" idx="4"/>
              <a:endCxn id="105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A39F70F6-F052-3834-B4F2-62440449AE97}"/>
                </a:ext>
              </a:extLst>
            </p:cNvPr>
            <p:cNvCxnSpPr>
              <a:cxnSpLocks/>
              <a:stCxn id="101" idx="4"/>
              <a:endCxn id="106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2095" y="3917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pretraining(</a:t>
            </a:r>
            <a:r>
              <a:rPr lang="zh-CN" altLang="en-US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预训练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478881" y="1279003"/>
            <a:ext cx="8780145" cy="5342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/>
        </p:nvSpPr>
        <p:spPr>
          <a:xfrm>
            <a:off x="9630410" y="1751965"/>
            <a:ext cx="2317750" cy="54610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海量文本数据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9632950" y="2882900"/>
            <a:ext cx="2317750" cy="54610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扔进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Decoder-Only Transformer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9630410" y="4101465"/>
            <a:ext cx="2317750" cy="54610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文字接龙</a:t>
            </a:r>
          </a:p>
        </p:txBody>
      </p:sp>
      <p:sp>
        <p:nvSpPr>
          <p:cNvPr id="10" name="下箭头 9"/>
          <p:cNvSpPr/>
          <p:nvPr/>
        </p:nvSpPr>
        <p:spPr>
          <a:xfrm>
            <a:off x="10556875" y="2360930"/>
            <a:ext cx="469900" cy="4597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10556875" y="3535680"/>
            <a:ext cx="469900" cy="4597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1374749E-B6F8-4010-5F56-CDCF35834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2B37859-2115-C1F8-6321-D2F0AA71A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78B92149-696A-7B10-6856-FE8C5FA87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FB7571-1557-EB80-637E-2F7A31F2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预训练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EF8392-8E9C-9B26-D3BA-AD2D4AF4BF82}"/>
              </a:ext>
            </a:extLst>
          </p:cNvPr>
          <p:cNvSpPr txBox="1"/>
          <p:nvPr/>
        </p:nvSpPr>
        <p:spPr>
          <a:xfrm>
            <a:off x="4560401" y="1209673"/>
            <a:ext cx="203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跟人类对话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8BB0BC-FF58-8B09-709A-5BD8CB34646F}"/>
              </a:ext>
            </a:extLst>
          </p:cNvPr>
          <p:cNvSpPr txBox="1"/>
          <p:nvPr/>
        </p:nvSpPr>
        <p:spPr>
          <a:xfrm>
            <a:off x="4085262" y="2217263"/>
            <a:ext cx="461665" cy="5232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A72BBF-A58E-701F-F634-1FB74C8601EB}"/>
              </a:ext>
            </a:extLst>
          </p:cNvPr>
          <p:cNvSpPr txBox="1"/>
          <p:nvPr/>
        </p:nvSpPr>
        <p:spPr>
          <a:xfrm>
            <a:off x="6456783" y="2217263"/>
            <a:ext cx="69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7CE566-331A-0112-E845-B03E195BAE6E}"/>
              </a:ext>
            </a:extLst>
          </p:cNvPr>
          <p:cNvSpPr txBox="1"/>
          <p:nvPr/>
        </p:nvSpPr>
        <p:spPr>
          <a:xfrm>
            <a:off x="4085262" y="3154905"/>
            <a:ext cx="69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跟人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B85123-BD68-DABF-575B-A8616F85E9A9}"/>
              </a:ext>
            </a:extLst>
          </p:cNvPr>
          <p:cNvSpPr txBox="1"/>
          <p:nvPr/>
        </p:nvSpPr>
        <p:spPr>
          <a:xfrm>
            <a:off x="6456782" y="3185379"/>
            <a:ext cx="95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BDFD27-7CE5-74CC-EF21-9B8FAB94564C}"/>
              </a:ext>
            </a:extLst>
          </p:cNvPr>
          <p:cNvSpPr txBox="1"/>
          <p:nvPr/>
        </p:nvSpPr>
        <p:spPr>
          <a:xfrm>
            <a:off x="4079623" y="3916799"/>
            <a:ext cx="93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跟人类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88A72A-C65C-ACB8-4600-CDF59D51DE24}"/>
              </a:ext>
            </a:extLst>
          </p:cNvPr>
          <p:cNvSpPr txBox="1"/>
          <p:nvPr/>
        </p:nvSpPr>
        <p:spPr>
          <a:xfrm>
            <a:off x="6469223" y="3916799"/>
            <a:ext cx="93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4E41113C-40C5-B63B-BD22-1AF233E1DB1B}"/>
              </a:ext>
            </a:extLst>
          </p:cNvPr>
          <p:cNvGrpSpPr/>
          <p:nvPr/>
        </p:nvGrpSpPr>
        <p:grpSpPr>
          <a:xfrm>
            <a:off x="5401431" y="1199034"/>
            <a:ext cx="1638300" cy="828676"/>
            <a:chOff x="781050" y="552450"/>
            <a:chExt cx="1638300" cy="82867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FCB6B6D-ACA6-7345-8C15-8B969C19C14B}"/>
                </a:ext>
              </a:extLst>
            </p:cNvPr>
            <p:cNvSpPr/>
            <p:nvPr/>
          </p:nvSpPr>
          <p:spPr>
            <a:xfrm>
              <a:off x="781050" y="552450"/>
              <a:ext cx="1638300" cy="8286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8976E33-D324-9FAA-E6D0-C3435BA334FF}"/>
                </a:ext>
              </a:extLst>
            </p:cNvPr>
            <p:cNvSpPr/>
            <p:nvPr/>
          </p:nvSpPr>
          <p:spPr>
            <a:xfrm>
              <a:off x="990600" y="676275"/>
              <a:ext cx="219075" cy="704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1D08AF0-95AB-693F-40EC-C7A61E8C1216}"/>
                </a:ext>
              </a:extLst>
            </p:cNvPr>
            <p:cNvSpPr/>
            <p:nvPr/>
          </p:nvSpPr>
          <p:spPr>
            <a:xfrm>
              <a:off x="1309687" y="971550"/>
              <a:ext cx="219075" cy="4095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3E540B7-DA82-A23D-0FD3-BC9297EAB71D}"/>
                </a:ext>
              </a:extLst>
            </p:cNvPr>
            <p:cNvSpPr/>
            <p:nvPr/>
          </p:nvSpPr>
          <p:spPr>
            <a:xfrm>
              <a:off x="1628774" y="828676"/>
              <a:ext cx="219075" cy="55245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165C494-727D-963E-CCC0-719A38E34EE0}"/>
                </a:ext>
              </a:extLst>
            </p:cNvPr>
            <p:cNvSpPr/>
            <p:nvPr/>
          </p:nvSpPr>
          <p:spPr>
            <a:xfrm>
              <a:off x="1914524" y="971550"/>
              <a:ext cx="219075" cy="40957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C832C2F-86FC-19BB-5BD1-DE721950A37B}"/>
              </a:ext>
            </a:extLst>
          </p:cNvPr>
          <p:cNvGrpSpPr/>
          <p:nvPr/>
        </p:nvGrpSpPr>
        <p:grpSpPr>
          <a:xfrm>
            <a:off x="5768875" y="2428245"/>
            <a:ext cx="867103" cy="491213"/>
            <a:chOff x="4485069" y="835090"/>
            <a:chExt cx="1610931" cy="913709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8E23846-61E1-ED6B-ACD1-09672E232C74}"/>
                </a:ext>
              </a:extLst>
            </p:cNvPr>
            <p:cNvSpPr/>
            <p:nvPr/>
          </p:nvSpPr>
          <p:spPr>
            <a:xfrm>
              <a:off x="4485069" y="85033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06C9AD1-F523-73D4-0E26-9B9B5339D355}"/>
                </a:ext>
              </a:extLst>
            </p:cNvPr>
            <p:cNvSpPr/>
            <p:nvPr/>
          </p:nvSpPr>
          <p:spPr>
            <a:xfrm>
              <a:off x="4895849" y="83890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9524755-081E-93BF-F5C1-931D4061FD28}"/>
                </a:ext>
              </a:extLst>
            </p:cNvPr>
            <p:cNvSpPr/>
            <p:nvPr/>
          </p:nvSpPr>
          <p:spPr>
            <a:xfrm>
              <a:off x="5356159" y="838901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219A3E0-3297-403E-B95A-1FFAC0D67564}"/>
                </a:ext>
              </a:extLst>
            </p:cNvPr>
            <p:cNvSpPr/>
            <p:nvPr/>
          </p:nvSpPr>
          <p:spPr>
            <a:xfrm>
              <a:off x="5778759" y="835090"/>
              <a:ext cx="317241" cy="32657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0173381-7219-701B-0C69-730903F506A4}"/>
                </a:ext>
              </a:extLst>
            </p:cNvPr>
            <p:cNvSpPr/>
            <p:nvPr/>
          </p:nvSpPr>
          <p:spPr>
            <a:xfrm>
              <a:off x="489584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3C33EFB-C99D-9F1F-E6C8-DE54D4DAD813}"/>
                </a:ext>
              </a:extLst>
            </p:cNvPr>
            <p:cNvSpPr/>
            <p:nvPr/>
          </p:nvSpPr>
          <p:spPr>
            <a:xfrm>
              <a:off x="5356159" y="1422228"/>
              <a:ext cx="317241" cy="32657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683A2F2-B4C3-5E9D-77E5-F1CAF8B0C497}"/>
                </a:ext>
              </a:extLst>
            </p:cNvPr>
            <p:cNvCxnSpPr>
              <a:cxnSpLocks/>
              <a:stCxn id="23" idx="4"/>
              <a:endCxn id="27" idx="0"/>
            </p:cNvCxnSpPr>
            <p:nvPr/>
          </p:nvCxnSpPr>
          <p:spPr>
            <a:xfrm>
              <a:off x="4643690" y="1176902"/>
              <a:ext cx="41078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9EC5967-DD17-0CAD-347B-B7C55FFA2040}"/>
                </a:ext>
              </a:extLst>
            </p:cNvPr>
            <p:cNvCxnSpPr>
              <a:cxnSpLocks/>
              <a:stCxn id="26" idx="4"/>
              <a:endCxn id="28" idx="0"/>
            </p:cNvCxnSpPr>
            <p:nvPr/>
          </p:nvCxnSpPr>
          <p:spPr>
            <a:xfrm flipH="1">
              <a:off x="5514780" y="1161661"/>
              <a:ext cx="42260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4230103-8284-235F-69E8-AE6179868827}"/>
                </a:ext>
              </a:extLst>
            </p:cNvPr>
            <p:cNvCxnSpPr>
              <a:cxnSpLocks/>
              <a:stCxn id="25" idx="4"/>
              <a:endCxn id="28" idx="0"/>
            </p:cNvCxnSpPr>
            <p:nvPr/>
          </p:nvCxnSpPr>
          <p:spPr>
            <a:xfrm>
              <a:off x="551478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C673F4C-9769-2949-C098-6F0951BD1A00}"/>
                </a:ext>
              </a:extLst>
            </p:cNvPr>
            <p:cNvCxnSpPr>
              <a:cxnSpLocks/>
              <a:stCxn id="24" idx="4"/>
              <a:endCxn id="27" idx="0"/>
            </p:cNvCxnSpPr>
            <p:nvPr/>
          </p:nvCxnSpPr>
          <p:spPr>
            <a:xfrm>
              <a:off x="5054470" y="1165472"/>
              <a:ext cx="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67C53DA-4B45-69CB-69A9-D41C3CD6413F}"/>
                </a:ext>
              </a:extLst>
            </p:cNvPr>
            <p:cNvCxnSpPr>
              <a:cxnSpLocks/>
              <a:stCxn id="24" idx="4"/>
              <a:endCxn id="28" idx="0"/>
            </p:cNvCxnSpPr>
            <p:nvPr/>
          </p:nvCxnSpPr>
          <p:spPr>
            <a:xfrm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A57C927F-389D-EB77-D16E-125F237289F8}"/>
                </a:ext>
              </a:extLst>
            </p:cNvPr>
            <p:cNvCxnSpPr>
              <a:cxnSpLocks/>
              <a:stCxn id="25" idx="4"/>
              <a:endCxn id="27" idx="0"/>
            </p:cNvCxnSpPr>
            <p:nvPr/>
          </p:nvCxnSpPr>
          <p:spPr>
            <a:xfrm flipH="1">
              <a:off x="5054470" y="1165472"/>
              <a:ext cx="460310" cy="2567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504A7EF-CBA2-3BD6-86AE-CF72C0949E3F}"/>
                </a:ext>
              </a:extLst>
            </p:cNvPr>
            <p:cNvCxnSpPr>
              <a:cxnSpLocks/>
              <a:stCxn id="26" idx="4"/>
              <a:endCxn id="27" idx="0"/>
            </p:cNvCxnSpPr>
            <p:nvPr/>
          </p:nvCxnSpPr>
          <p:spPr>
            <a:xfrm flipH="1">
              <a:off x="5054470" y="1161661"/>
              <a:ext cx="882910" cy="26056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E26EB08-7B3A-2F64-D41B-5BA970C57C8E}"/>
                </a:ext>
              </a:extLst>
            </p:cNvPr>
            <p:cNvCxnSpPr>
              <a:cxnSpLocks/>
              <a:stCxn id="23" idx="4"/>
              <a:endCxn id="28" idx="0"/>
            </p:cNvCxnSpPr>
            <p:nvPr/>
          </p:nvCxnSpPr>
          <p:spPr>
            <a:xfrm>
              <a:off x="4643690" y="1176902"/>
              <a:ext cx="871090" cy="2453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0F2E2AF-7758-7FF7-102D-EC8CB044D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588" y="3311741"/>
            <a:ext cx="3573987" cy="240787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598272A-4FDF-0DD5-B5FE-2DD201127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88" y="6011343"/>
            <a:ext cx="711837" cy="3079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34AC04B-AD18-5365-EDCB-4587DA96A30E}"/>
              </a:ext>
            </a:extLst>
          </p:cNvPr>
          <p:cNvSpPr txBox="1"/>
          <p:nvPr/>
        </p:nvSpPr>
        <p:spPr>
          <a:xfrm>
            <a:off x="4484906" y="6319253"/>
            <a:ext cx="60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广州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FA7D39-1541-D630-C50E-147086020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88" y="3020010"/>
            <a:ext cx="711837" cy="307910"/>
          </a:xfrm>
          <a:prstGeom prst="rect">
            <a:avLst/>
          </a:prstGeom>
        </p:spPr>
      </p:pic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3E797203-9B6B-3D9F-D462-FEF2158E625D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rot="5400000" flipH="1" flipV="1">
            <a:off x="5359179" y="5149941"/>
            <a:ext cx="291730" cy="14310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C4BF85A-F3C4-5480-E6E7-0DEB60F0CBAE}"/>
              </a:ext>
            </a:extLst>
          </p:cNvPr>
          <p:cNvCxnSpPr/>
          <p:nvPr/>
        </p:nvCxnSpPr>
        <p:spPr>
          <a:xfrm flipV="1">
            <a:off x="6199245" y="2046364"/>
            <a:ext cx="0" cy="30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A7F985A-4423-E9CC-8CED-46FB0F7BFCD2}"/>
              </a:ext>
            </a:extLst>
          </p:cNvPr>
          <p:cNvSpPr txBox="1"/>
          <p:nvPr/>
        </p:nvSpPr>
        <p:spPr>
          <a:xfrm>
            <a:off x="2561816" y="6319253"/>
            <a:ext cx="60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天气</a:t>
            </a: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31F1A6A7-4F23-7E71-3051-37410E7C1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278" y="3050921"/>
            <a:ext cx="662624" cy="276999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B9AF74A8-2ADA-3CDC-175C-D995FE24C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392" y="6035324"/>
            <a:ext cx="662624" cy="276999"/>
          </a:xfrm>
          <a:prstGeom prst="rect">
            <a:avLst/>
          </a:prstGeom>
        </p:spPr>
      </p:pic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080E6A6C-2E65-0C65-9637-87AE297CB0B5}"/>
              </a:ext>
            </a:extLst>
          </p:cNvPr>
          <p:cNvGrpSpPr/>
          <p:nvPr/>
        </p:nvGrpSpPr>
        <p:grpSpPr>
          <a:xfrm>
            <a:off x="2358532" y="1217688"/>
            <a:ext cx="1638300" cy="828676"/>
            <a:chOff x="781050" y="552450"/>
            <a:chExt cx="1638300" cy="828676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29114B61-B018-53E1-0AB0-567E681BE3F5}"/>
                </a:ext>
              </a:extLst>
            </p:cNvPr>
            <p:cNvSpPr/>
            <p:nvPr/>
          </p:nvSpPr>
          <p:spPr>
            <a:xfrm>
              <a:off x="781050" y="552450"/>
              <a:ext cx="1638300" cy="8286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7B36793D-B120-C75D-1F88-B2467EAF7CCB}"/>
                </a:ext>
              </a:extLst>
            </p:cNvPr>
            <p:cNvSpPr/>
            <p:nvPr/>
          </p:nvSpPr>
          <p:spPr>
            <a:xfrm>
              <a:off x="1297484" y="669085"/>
              <a:ext cx="219075" cy="7048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40DC46B0-5567-6A57-6C7E-8F106A39C61E}"/>
                </a:ext>
              </a:extLst>
            </p:cNvPr>
            <p:cNvSpPr/>
            <p:nvPr/>
          </p:nvSpPr>
          <p:spPr>
            <a:xfrm>
              <a:off x="994188" y="964360"/>
              <a:ext cx="219075" cy="4095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00018D28-A767-9447-54EB-CC6DBC16398B}"/>
                </a:ext>
              </a:extLst>
            </p:cNvPr>
            <p:cNvSpPr/>
            <p:nvPr/>
          </p:nvSpPr>
          <p:spPr>
            <a:xfrm>
              <a:off x="1628774" y="1078712"/>
              <a:ext cx="219075" cy="30241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20DF85AA-20A3-789F-D80A-23B4404563F0}"/>
                </a:ext>
              </a:extLst>
            </p:cNvPr>
            <p:cNvSpPr/>
            <p:nvPr/>
          </p:nvSpPr>
          <p:spPr>
            <a:xfrm>
              <a:off x="1914524" y="971550"/>
              <a:ext cx="219075" cy="40957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63A78A2F-DF00-89E5-CBFC-00F87DBC4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77C26A0E-33A2-D15C-3D48-EDA9E9B16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31C2FA8C-B979-4077-6693-C281D7089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35BA2D-CC12-9D5C-6987-10AB99057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040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文本生成过程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DDFC975-4B5C-1643-3FB9-3CAA38DE8DE5}"/>
              </a:ext>
            </a:extLst>
          </p:cNvPr>
          <p:cNvGrpSpPr/>
          <p:nvPr/>
        </p:nvGrpSpPr>
        <p:grpSpPr>
          <a:xfrm>
            <a:off x="6212804" y="788481"/>
            <a:ext cx="5548559" cy="2689595"/>
            <a:chOff x="6753980" y="1199034"/>
            <a:chExt cx="5548559" cy="2689595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01C23B9A-A01B-E7B7-26F2-418AA6B15D90}"/>
                </a:ext>
              </a:extLst>
            </p:cNvPr>
            <p:cNvGrpSpPr/>
            <p:nvPr/>
          </p:nvGrpSpPr>
          <p:grpSpPr>
            <a:xfrm>
              <a:off x="6753980" y="1199034"/>
              <a:ext cx="5548559" cy="2689595"/>
              <a:chOff x="628306" y="357751"/>
              <a:chExt cx="5548559" cy="2689595"/>
            </a:xfrm>
          </p:grpSpPr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6EF28E21-2073-7C00-219A-F00D138FCF58}"/>
                  </a:ext>
                </a:extLst>
              </p:cNvPr>
              <p:cNvSpPr txBox="1"/>
              <p:nvPr/>
            </p:nvSpPr>
            <p:spPr>
              <a:xfrm>
                <a:off x="5421086" y="2207155"/>
                <a:ext cx="755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4A61E88F-62F2-4406-2693-8C2D23BE4BF5}"/>
                  </a:ext>
                </a:extLst>
              </p:cNvPr>
              <p:cNvGrpSpPr/>
              <p:nvPr/>
            </p:nvGrpSpPr>
            <p:grpSpPr>
              <a:xfrm>
                <a:off x="628306" y="357751"/>
                <a:ext cx="5325453" cy="2689595"/>
                <a:chOff x="628306" y="357751"/>
                <a:chExt cx="5325453" cy="2689595"/>
              </a:xfrm>
            </p:grpSpPr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0BA541C0-CBF8-1304-7613-0F89D1610E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306" y="2486437"/>
                  <a:ext cx="5325453" cy="12923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A16F30FD-98EE-0405-2A1E-4BE6F70DB4C5}"/>
                    </a:ext>
                  </a:extLst>
                </p:cNvPr>
                <p:cNvSpPr/>
                <p:nvPr/>
              </p:nvSpPr>
              <p:spPr>
                <a:xfrm>
                  <a:off x="1074467" y="769470"/>
                  <a:ext cx="484131" cy="171696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8E7A1559-23F3-F3C3-FE68-48AB05899110}"/>
                    </a:ext>
                  </a:extLst>
                </p:cNvPr>
                <p:cNvSpPr/>
                <p:nvPr/>
              </p:nvSpPr>
              <p:spPr>
                <a:xfrm>
                  <a:off x="2004759" y="1681378"/>
                  <a:ext cx="484131" cy="80207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B0D34B0B-325C-3060-DE19-555708770A5F}"/>
                    </a:ext>
                  </a:extLst>
                </p:cNvPr>
                <p:cNvSpPr/>
                <p:nvPr/>
              </p:nvSpPr>
              <p:spPr>
                <a:xfrm>
                  <a:off x="2909357" y="1231646"/>
                  <a:ext cx="484131" cy="124948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F625BAE0-A7FC-C061-27A5-7C5C0AABF469}"/>
                    </a:ext>
                  </a:extLst>
                </p:cNvPr>
                <p:cNvSpPr/>
                <p:nvPr/>
              </p:nvSpPr>
              <p:spPr>
                <a:xfrm>
                  <a:off x="3813954" y="2207155"/>
                  <a:ext cx="484131" cy="28458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B7EB9955-88F3-C3DD-9C3D-ED372C0641BF}"/>
                    </a:ext>
                  </a:extLst>
                </p:cNvPr>
                <p:cNvSpPr/>
                <p:nvPr/>
              </p:nvSpPr>
              <p:spPr>
                <a:xfrm>
                  <a:off x="4718551" y="2333510"/>
                  <a:ext cx="484131" cy="15524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905186A-05F7-B92A-4B2D-93D64422F2D0}"/>
                    </a:ext>
                  </a:extLst>
                </p:cNvPr>
                <p:cNvSpPr txBox="1"/>
                <p:nvPr/>
              </p:nvSpPr>
              <p:spPr>
                <a:xfrm>
                  <a:off x="971299" y="2708792"/>
                  <a:ext cx="6904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天气</a:t>
                  </a:r>
                </a:p>
              </p:txBody>
            </p: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BE353DF-4E6E-19D9-8604-F41B382C69F3}"/>
                    </a:ext>
                  </a:extLst>
                </p:cNvPr>
                <p:cNvSpPr txBox="1"/>
                <p:nvPr/>
              </p:nvSpPr>
              <p:spPr>
                <a:xfrm>
                  <a:off x="2004759" y="2708792"/>
                  <a:ext cx="501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是</a:t>
                  </a:r>
                </a:p>
              </p:txBody>
            </p:sp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0964A8B-45FE-B77A-3575-A363BEF611BD}"/>
                    </a:ext>
                  </a:extLst>
                </p:cNvPr>
                <p:cNvSpPr txBox="1"/>
                <p:nvPr/>
              </p:nvSpPr>
              <p:spPr>
                <a:xfrm>
                  <a:off x="2859849" y="2705028"/>
                  <a:ext cx="6904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市区</a:t>
                  </a:r>
                </a:p>
              </p:txBody>
            </p:sp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56F74842-8375-A845-6ACF-0721A347DAFF}"/>
                    </a:ext>
                  </a:extLst>
                </p:cNvPr>
                <p:cNvSpPr txBox="1"/>
                <p:nvPr/>
              </p:nvSpPr>
              <p:spPr>
                <a:xfrm>
                  <a:off x="3720055" y="2705028"/>
                  <a:ext cx="69046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没有</a:t>
                  </a:r>
                </a:p>
              </p:txBody>
            </p:sp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A893ABE-1105-56E6-80F4-334B05710E53}"/>
                    </a:ext>
                  </a:extLst>
                </p:cNvPr>
                <p:cNvSpPr txBox="1"/>
                <p:nvPr/>
              </p:nvSpPr>
              <p:spPr>
                <a:xfrm>
                  <a:off x="4814383" y="2705028"/>
                  <a:ext cx="44227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在</a:t>
                  </a:r>
                </a:p>
              </p:txBody>
            </p:sp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FAAC4A2F-3B2B-178B-B897-FC3C4A055EC3}"/>
                    </a:ext>
                  </a:extLst>
                </p:cNvPr>
                <p:cNvSpPr txBox="1"/>
                <p:nvPr/>
              </p:nvSpPr>
              <p:spPr>
                <a:xfrm>
                  <a:off x="1074467" y="357751"/>
                  <a:ext cx="4841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0.3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4CE17548-E8C3-3392-1296-7F3DF593B602}"/>
                    </a:ext>
                  </a:extLst>
                </p:cNvPr>
                <p:cNvSpPr txBox="1"/>
                <p:nvPr/>
              </p:nvSpPr>
              <p:spPr>
                <a:xfrm>
                  <a:off x="1959659" y="1287280"/>
                  <a:ext cx="592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0.15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0685DA87-54C7-B426-262B-3E05B9BCAA85}"/>
                    </a:ext>
                  </a:extLst>
                </p:cNvPr>
                <p:cNvSpPr txBox="1"/>
                <p:nvPr/>
              </p:nvSpPr>
              <p:spPr>
                <a:xfrm>
                  <a:off x="2925163" y="859663"/>
                  <a:ext cx="592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E006835-222F-89B7-B198-7DBE0E7EBA2C}"/>
                    </a:ext>
                  </a:extLst>
                </p:cNvPr>
                <p:cNvSpPr txBox="1"/>
                <p:nvPr/>
              </p:nvSpPr>
              <p:spPr>
                <a:xfrm>
                  <a:off x="3797677" y="1843013"/>
                  <a:ext cx="592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0.05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2D7012B6-CF10-2E27-63E0-57EDDD3B69EA}"/>
                    </a:ext>
                  </a:extLst>
                </p:cNvPr>
                <p:cNvSpPr txBox="1"/>
                <p:nvPr/>
              </p:nvSpPr>
              <p:spPr>
                <a:xfrm>
                  <a:off x="4664578" y="1977464"/>
                  <a:ext cx="592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0.03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1" name="星形: 五角 10">
              <a:extLst>
                <a:ext uri="{FF2B5EF4-FFF2-40B4-BE49-F238E27FC236}">
                  <a16:creationId xmlns:a16="http://schemas.microsoft.com/office/drawing/2014/main" id="{998C584D-2FF4-3F96-4139-2BA5808978A1}"/>
                </a:ext>
              </a:extLst>
            </p:cNvPr>
            <p:cNvSpPr/>
            <p:nvPr/>
          </p:nvSpPr>
          <p:spPr>
            <a:xfrm>
              <a:off x="7267107" y="2174368"/>
              <a:ext cx="350196" cy="309489"/>
            </a:xfrm>
            <a:prstGeom prst="star5">
              <a:avLst/>
            </a:prstGeom>
            <a:solidFill>
              <a:srgbClr val="FF0000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608DD41-8040-4504-AD22-A5F9D9C91D8E}"/>
              </a:ext>
            </a:extLst>
          </p:cNvPr>
          <p:cNvSpPr txBox="1"/>
          <p:nvPr/>
        </p:nvSpPr>
        <p:spPr>
          <a:xfrm>
            <a:off x="7811461" y="3488444"/>
            <a:ext cx="223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生成结果：广州天气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396EC87-C4E8-922A-2CAB-9DEC99BA9847}"/>
              </a:ext>
            </a:extLst>
          </p:cNvPr>
          <p:cNvGrpSpPr/>
          <p:nvPr/>
        </p:nvGrpSpPr>
        <p:grpSpPr>
          <a:xfrm>
            <a:off x="6212804" y="3779125"/>
            <a:ext cx="5548559" cy="2610085"/>
            <a:chOff x="628306" y="655882"/>
            <a:chExt cx="5548559" cy="2391464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3037CE6-439E-A896-AA00-72AD7D2AAA7C}"/>
                </a:ext>
              </a:extLst>
            </p:cNvPr>
            <p:cNvSpPr txBox="1"/>
            <p:nvPr/>
          </p:nvSpPr>
          <p:spPr>
            <a:xfrm>
              <a:off x="5421086" y="2207155"/>
              <a:ext cx="7557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……</a:t>
              </a:r>
              <a:endParaRPr lang="zh-CN" altLang="en-US" dirty="0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C4E7A9A-0AB1-46B9-8B8B-B774215E4295}"/>
                </a:ext>
              </a:extLst>
            </p:cNvPr>
            <p:cNvGrpSpPr/>
            <p:nvPr/>
          </p:nvGrpSpPr>
          <p:grpSpPr>
            <a:xfrm>
              <a:off x="628306" y="655882"/>
              <a:ext cx="5325453" cy="2391464"/>
              <a:chOff x="628306" y="655882"/>
              <a:chExt cx="5325453" cy="2391464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C726E1E-A9EE-3117-34EF-EC017C970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306" y="2486437"/>
                <a:ext cx="5325453" cy="12923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D5F555C-2AFC-B7A6-0139-91B28B199059}"/>
                  </a:ext>
                </a:extLst>
              </p:cNvPr>
              <p:cNvSpPr/>
              <p:nvPr/>
            </p:nvSpPr>
            <p:spPr>
              <a:xfrm>
                <a:off x="1074467" y="1489952"/>
                <a:ext cx="484131" cy="996480"/>
              </a:xfrm>
              <a:prstGeom prst="rect">
                <a:avLst/>
              </a:prstGeom>
              <a:solidFill>
                <a:srgbClr val="FDFF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FDEC69-5B64-4DF7-35AC-201DD9AE1EE8}"/>
                  </a:ext>
                </a:extLst>
              </p:cNvPr>
              <p:cNvSpPr/>
              <p:nvPr/>
            </p:nvSpPr>
            <p:spPr>
              <a:xfrm>
                <a:off x="2004759" y="1880956"/>
                <a:ext cx="484131" cy="60249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643E18D-388B-8044-0138-6505D5CB5416}"/>
                  </a:ext>
                </a:extLst>
              </p:cNvPr>
              <p:cNvSpPr/>
              <p:nvPr/>
            </p:nvSpPr>
            <p:spPr>
              <a:xfrm>
                <a:off x="2909357" y="979027"/>
                <a:ext cx="484131" cy="150210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4DAF055-D3A7-EA75-8D14-4D68C209EBD4}"/>
                  </a:ext>
                </a:extLst>
              </p:cNvPr>
              <p:cNvSpPr/>
              <p:nvPr/>
            </p:nvSpPr>
            <p:spPr>
              <a:xfrm>
                <a:off x="3813954" y="1611780"/>
                <a:ext cx="484131" cy="8799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271BADF-7DFF-8A8F-BE31-4AA7C6F76373}"/>
                  </a:ext>
                </a:extLst>
              </p:cNvPr>
              <p:cNvSpPr/>
              <p:nvPr/>
            </p:nvSpPr>
            <p:spPr>
              <a:xfrm>
                <a:off x="4718551" y="2409309"/>
                <a:ext cx="484131" cy="7944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14911CA-4CBA-BC73-51F5-260B7737D610}"/>
                  </a:ext>
                </a:extLst>
              </p:cNvPr>
              <p:cNvSpPr txBox="1"/>
              <p:nvPr/>
            </p:nvSpPr>
            <p:spPr>
              <a:xfrm>
                <a:off x="971299" y="2708792"/>
                <a:ext cx="690465" cy="31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有点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3C0B09F-DA4D-1893-1187-8F081F41A50E}"/>
                  </a:ext>
                </a:extLst>
              </p:cNvPr>
              <p:cNvSpPr txBox="1"/>
              <p:nvPr/>
            </p:nvSpPr>
            <p:spPr>
              <a:xfrm>
                <a:off x="2004759" y="2708792"/>
                <a:ext cx="5018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是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59E730-77F8-6E2D-2567-938980BA09E1}"/>
                  </a:ext>
                </a:extLst>
              </p:cNvPr>
              <p:cNvSpPr txBox="1"/>
              <p:nvPr/>
            </p:nvSpPr>
            <p:spPr>
              <a:xfrm>
                <a:off x="2887841" y="2705028"/>
                <a:ext cx="690465" cy="31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挺好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534B415-3DB9-4266-D038-E7C6A0D65718}"/>
                  </a:ext>
                </a:extLst>
              </p:cNvPr>
              <p:cNvSpPr txBox="1"/>
              <p:nvPr/>
            </p:nvSpPr>
            <p:spPr>
              <a:xfrm>
                <a:off x="3775845" y="2705028"/>
                <a:ext cx="690465" cy="31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怎么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2D91E7C-D9EA-14D6-A0E8-A7E442C7FF15}"/>
                  </a:ext>
                </a:extLst>
              </p:cNvPr>
              <p:cNvSpPr txBox="1"/>
              <p:nvPr/>
            </p:nvSpPr>
            <p:spPr>
              <a:xfrm>
                <a:off x="4814383" y="2705028"/>
                <a:ext cx="442271" cy="31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很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96E773C-4296-07A8-A0F1-53679458540B}"/>
                  </a:ext>
                </a:extLst>
              </p:cNvPr>
              <p:cNvSpPr txBox="1"/>
              <p:nvPr/>
            </p:nvSpPr>
            <p:spPr>
              <a:xfrm>
                <a:off x="1068329" y="1125681"/>
                <a:ext cx="631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0.17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8A27003-9233-46A7-37C7-B3F257CEBA1B}"/>
                  </a:ext>
                </a:extLst>
              </p:cNvPr>
              <p:cNvSpPr txBox="1"/>
              <p:nvPr/>
            </p:nvSpPr>
            <p:spPr>
              <a:xfrm>
                <a:off x="2027583" y="1612912"/>
                <a:ext cx="592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EC410A3D-6B27-7F8A-C280-46966E4DEC8A}"/>
                  </a:ext>
                </a:extLst>
              </p:cNvPr>
              <p:cNvSpPr txBox="1"/>
              <p:nvPr/>
            </p:nvSpPr>
            <p:spPr>
              <a:xfrm>
                <a:off x="2859849" y="655882"/>
                <a:ext cx="592076" cy="33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0.38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DDEABE8-A7AB-FAF4-2471-4983DA9E80A6}"/>
                  </a:ext>
                </a:extLst>
              </p:cNvPr>
              <p:cNvSpPr txBox="1"/>
              <p:nvPr/>
            </p:nvSpPr>
            <p:spPr>
              <a:xfrm>
                <a:off x="3759981" y="1292084"/>
                <a:ext cx="592076" cy="33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0.15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9AF4A73C-C74C-99F2-BB8F-58459347D26E}"/>
                  </a:ext>
                </a:extLst>
              </p:cNvPr>
              <p:cNvSpPr txBox="1"/>
              <p:nvPr/>
            </p:nvSpPr>
            <p:spPr>
              <a:xfrm>
                <a:off x="4683930" y="2079699"/>
                <a:ext cx="592076" cy="338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0.01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46BCB19A-9A52-37E8-60C3-4107467EAB90}"/>
              </a:ext>
            </a:extLst>
          </p:cNvPr>
          <p:cNvSpPr txBox="1"/>
          <p:nvPr/>
        </p:nvSpPr>
        <p:spPr>
          <a:xfrm>
            <a:off x="7755856" y="6377489"/>
            <a:ext cx="223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生成结果：广州天气是</a:t>
            </a:r>
          </a:p>
        </p:txBody>
      </p:sp>
      <p:sp>
        <p:nvSpPr>
          <p:cNvPr id="47" name="星形: 五角 46">
            <a:extLst>
              <a:ext uri="{FF2B5EF4-FFF2-40B4-BE49-F238E27FC236}">
                <a16:creationId xmlns:a16="http://schemas.microsoft.com/office/drawing/2014/main" id="{DA7BA9E6-3E7E-228B-37AA-DABDAB9474A5}"/>
              </a:ext>
            </a:extLst>
          </p:cNvPr>
          <p:cNvSpPr/>
          <p:nvPr/>
        </p:nvSpPr>
        <p:spPr>
          <a:xfrm>
            <a:off x="7664521" y="5190763"/>
            <a:ext cx="350196" cy="309489"/>
          </a:xfrm>
          <a:prstGeom prst="star5">
            <a:avLst/>
          </a:prstGeom>
          <a:solidFill>
            <a:srgbClr val="FF0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F9704445-C808-4B9A-42BE-5FF0761CA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0692" y="6019706"/>
            <a:ext cx="725789" cy="307911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F18BB727-9A11-0AF3-68A4-B7B9748EB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981" y="3035464"/>
            <a:ext cx="725789" cy="307911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A1D8778A-A01D-B017-ACB2-EC65B07F0AC9}"/>
              </a:ext>
            </a:extLst>
          </p:cNvPr>
          <p:cNvSpPr txBox="1"/>
          <p:nvPr/>
        </p:nvSpPr>
        <p:spPr>
          <a:xfrm>
            <a:off x="3678167" y="6312323"/>
            <a:ext cx="60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pic>
        <p:nvPicPr>
          <p:cNvPr id="64" name="图形 63" descr="回形循环箭头">
            <a:extLst>
              <a:ext uri="{FF2B5EF4-FFF2-40B4-BE49-F238E27FC236}">
                <a16:creationId xmlns:a16="http://schemas.microsoft.com/office/drawing/2014/main" id="{21D097EF-538D-DA90-D9E3-73CAEF706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4663" y="1199034"/>
            <a:ext cx="914400" cy="91440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63D58EFB-DCEE-7008-66DA-270946C32513}"/>
              </a:ext>
            </a:extLst>
          </p:cNvPr>
          <p:cNvSpPr txBox="1"/>
          <p:nvPr/>
        </p:nvSpPr>
        <p:spPr>
          <a:xfrm>
            <a:off x="4287367" y="2201108"/>
            <a:ext cx="62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-0.25 -4.07407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33333E-6 L -0.25 3.33333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07407E-6 L -0.25 -4.07407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-0.25 -1.48148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81481E-6 L -0.25 -4.81481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4.81481E-6 L -0.25 4.81481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33333E-6 L -0.25 -3.33333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-0.25 -3.33333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22" grpId="0"/>
      <p:bldP spid="13" grpId="0"/>
      <p:bldP spid="46" grpId="0"/>
      <p:bldP spid="47" grpId="0" animBg="1"/>
      <p:bldP spid="63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/>
          <p:cNvSpPr/>
          <p:nvPr/>
        </p:nvSpPr>
        <p:spPr>
          <a:xfrm>
            <a:off x="3331210" y="5394960"/>
            <a:ext cx="5022215" cy="7391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4697095" y="1609090"/>
            <a:ext cx="2145665" cy="16351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GPT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86410" y="1240790"/>
            <a:ext cx="3333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世界上最高的山峰是什么？</a:t>
            </a:r>
          </a:p>
        </p:txBody>
      </p:sp>
      <p:cxnSp>
        <p:nvCxnSpPr>
          <p:cNvPr id="7" name="曲线连接符 6"/>
          <p:cNvCxnSpPr>
            <a:stCxn id="2" idx="3"/>
            <a:endCxn id="3" idx="1"/>
          </p:cNvCxnSpPr>
          <p:nvPr/>
        </p:nvCxnSpPr>
        <p:spPr>
          <a:xfrm>
            <a:off x="3819525" y="1440180"/>
            <a:ext cx="877570" cy="98679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893050" y="18288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世界上最高的山峰是珠穆朗玛峰。</a:t>
            </a:r>
          </a:p>
        </p:txBody>
      </p:sp>
      <p:cxnSp>
        <p:nvCxnSpPr>
          <p:cNvPr id="10" name="曲线连接符 9"/>
          <p:cNvCxnSpPr>
            <a:stCxn id="3" idx="3"/>
            <a:endCxn id="9" idx="1"/>
          </p:cNvCxnSpPr>
          <p:nvPr/>
        </p:nvCxnSpPr>
        <p:spPr>
          <a:xfrm flipV="1">
            <a:off x="6842760" y="2028190"/>
            <a:ext cx="1050290" cy="39878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17560" y="2567940"/>
            <a:ext cx="2221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是珠穆朗玛峰啊。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417560" y="3244215"/>
            <a:ext cx="1965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谁能告诉我。</a:t>
            </a:r>
          </a:p>
        </p:txBody>
      </p:sp>
      <p:cxnSp>
        <p:nvCxnSpPr>
          <p:cNvPr id="14" name="曲线连接符 13"/>
          <p:cNvCxnSpPr>
            <a:stCxn id="3" idx="3"/>
            <a:endCxn id="11" idx="1"/>
          </p:cNvCxnSpPr>
          <p:nvPr/>
        </p:nvCxnSpPr>
        <p:spPr>
          <a:xfrm>
            <a:off x="6842760" y="2426970"/>
            <a:ext cx="1574800" cy="34036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3" idx="3"/>
            <a:endCxn id="13" idx="1"/>
          </p:cNvCxnSpPr>
          <p:nvPr/>
        </p:nvCxnSpPr>
        <p:spPr>
          <a:xfrm>
            <a:off x="6842760" y="2426970"/>
            <a:ext cx="1574800" cy="101663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5051425" y="4426585"/>
            <a:ext cx="1673860" cy="645160"/>
            <a:chOff x="7955" y="6971"/>
            <a:chExt cx="2636" cy="1016"/>
          </a:xfrm>
        </p:grpSpPr>
        <p:sp>
          <p:nvSpPr>
            <p:cNvPr id="16" name="文本框 15"/>
            <p:cNvSpPr txBox="1"/>
            <p:nvPr/>
          </p:nvSpPr>
          <p:spPr>
            <a:xfrm>
              <a:off x="8401" y="6971"/>
              <a:ext cx="21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>
                  <a:latin typeface="宋体" panose="02010600030101010101" pitchFamily="2" charset="-122"/>
                  <a:ea typeface="宋体" panose="02010600030101010101" pitchFamily="2" charset="-122"/>
                </a:rPr>
                <a:t>有用</a:t>
              </a:r>
            </a:p>
          </p:txBody>
        </p:sp>
        <p:pic>
          <p:nvPicPr>
            <p:cNvPr id="17" name="图片 16" descr="工具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55" y="7266"/>
              <a:ext cx="500" cy="520"/>
            </a:xfrm>
            <a:prstGeom prst="rect">
              <a:avLst/>
            </a:prstGeom>
          </p:spPr>
        </p:pic>
      </p:grpSp>
      <p:pic>
        <p:nvPicPr>
          <p:cNvPr id="19" name="图片 18" descr="写字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7450" y="5493385"/>
            <a:ext cx="505460" cy="505460"/>
          </a:xfrm>
          <a:prstGeom prst="rect">
            <a:avLst/>
          </a:prstGeom>
        </p:spPr>
      </p:pic>
      <p:pic>
        <p:nvPicPr>
          <p:cNvPr id="20" name="图片 19" descr="写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6930" y="5454650"/>
            <a:ext cx="544195" cy="544195"/>
          </a:xfrm>
          <a:prstGeom prst="rect">
            <a:avLst/>
          </a:prstGeom>
        </p:spPr>
      </p:pic>
      <p:pic>
        <p:nvPicPr>
          <p:cNvPr id="21" name="图片 20" descr="聊天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0385" y="5493385"/>
            <a:ext cx="517525" cy="517525"/>
          </a:xfrm>
          <a:prstGeom prst="rect">
            <a:avLst/>
          </a:prstGeom>
        </p:spPr>
      </p:pic>
      <p:pic>
        <p:nvPicPr>
          <p:cNvPr id="22" name="图片 21" descr="数学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7170" y="5505450"/>
            <a:ext cx="505460" cy="505460"/>
          </a:xfrm>
          <a:prstGeom prst="rect">
            <a:avLst/>
          </a:prstGeom>
        </p:spPr>
      </p:pic>
      <p:pic>
        <p:nvPicPr>
          <p:cNvPr id="23" name="图片 22" descr="翻译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01890" y="5454650"/>
            <a:ext cx="556260" cy="556260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 flipH="1">
            <a:off x="5778500" y="3375025"/>
            <a:ext cx="11430" cy="934720"/>
          </a:xfrm>
          <a:prstGeom prst="straightConnector1">
            <a:avLst/>
          </a:prstGeom>
          <a:ln w="254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789930" y="3624580"/>
            <a:ext cx="600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❓</a:t>
            </a: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0CB042E-B1FB-2893-75D1-7E55A32F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9B6B81F-BB62-8F76-7455-2F9CA28C9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E8B40F-520E-9951-FFEE-D5DA6C15C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937608-CC89-9B7C-B34E-14E5CE6F5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对齐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A8169D-9E75-ECB5-74B3-3A77D9438726}"/>
              </a:ext>
            </a:extLst>
          </p:cNvPr>
          <p:cNvSpPr txBox="1"/>
          <p:nvPr/>
        </p:nvSpPr>
        <p:spPr>
          <a:xfrm>
            <a:off x="5402553" y="2750383"/>
            <a:ext cx="953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预训练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/>
      <p:bldP spid="9" grpId="1"/>
      <p:bldP spid="9" grpId="2"/>
      <p:bldP spid="11" grpId="1"/>
      <p:bldP spid="11" grpId="2"/>
      <p:bldP spid="13" grpId="1"/>
      <p:bldP spid="13" grpId="2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人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9840" y="2582545"/>
            <a:ext cx="787400" cy="787400"/>
          </a:xfrm>
          <a:prstGeom prst="rect">
            <a:avLst/>
          </a:prstGeom>
        </p:spPr>
      </p:pic>
      <p:pic>
        <p:nvPicPr>
          <p:cNvPr id="4" name="图片 3" descr="文本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095" y="1244600"/>
            <a:ext cx="660400" cy="660400"/>
          </a:xfrm>
          <a:prstGeom prst="rect">
            <a:avLst/>
          </a:prstGeom>
        </p:spPr>
      </p:pic>
      <p:pic>
        <p:nvPicPr>
          <p:cNvPr id="5" name="图片 4" descr="文本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0225" y="2610485"/>
            <a:ext cx="660400" cy="660400"/>
          </a:xfrm>
          <a:prstGeom prst="rect">
            <a:avLst/>
          </a:prstGeom>
        </p:spPr>
      </p:pic>
      <p:pic>
        <p:nvPicPr>
          <p:cNvPr id="6" name="图片 5" descr="文本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4990" y="4039870"/>
            <a:ext cx="660400" cy="660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07000" y="1402715"/>
            <a:ext cx="237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世界上最高的山峰？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07000" y="2756535"/>
            <a:ext cx="2146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如何学习心理学？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221605" y="4163060"/>
            <a:ext cx="3856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帮我把这句话翻译成英文：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xxxxx</a:t>
            </a:r>
          </a:p>
        </p:txBody>
      </p:sp>
      <p:sp>
        <p:nvSpPr>
          <p:cNvPr id="12" name="右箭头 11"/>
          <p:cNvSpPr/>
          <p:nvPr/>
        </p:nvSpPr>
        <p:spPr>
          <a:xfrm>
            <a:off x="2414905" y="2806700"/>
            <a:ext cx="1316990" cy="46228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585710" y="1378585"/>
            <a:ext cx="3486785" cy="3924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7585710" y="2770505"/>
            <a:ext cx="3486785" cy="3924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869045" y="4163060"/>
            <a:ext cx="2182495" cy="392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</p:txBody>
      </p:sp>
      <p:pic>
        <p:nvPicPr>
          <p:cNvPr id="16" name="图片 15" descr="写笔记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3520" y="2362200"/>
            <a:ext cx="458470" cy="4584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 rot="5400000">
            <a:off x="6505575" y="5256530"/>
            <a:ext cx="1073785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……</a:t>
            </a:r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2DE5E691-84D4-0210-F243-5C9A3A95B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F4048683-2AD0-D8EA-7C59-7A3C2AEB8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562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5">
            <a:extLst>
              <a:ext uri="{FF2B5EF4-FFF2-40B4-BE49-F238E27FC236}">
                <a16:creationId xmlns:a16="http://schemas.microsoft.com/office/drawing/2014/main" id="{AE53600B-5799-8DC6-E742-1F2E38783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14140E-C466-9D2A-E306-10CFE4947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5058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对齐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有监督微调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537710" y="1966231"/>
            <a:ext cx="2145665" cy="11849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GPT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61585" y="3231151"/>
            <a:ext cx="1097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SFT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106273" y="5158375"/>
            <a:ext cx="1755140" cy="7747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老师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90015" y="2328181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水豚是什么？</a:t>
            </a:r>
          </a:p>
        </p:txBody>
      </p:sp>
      <p:cxnSp>
        <p:nvCxnSpPr>
          <p:cNvPr id="11" name="直接箭头连接符 10"/>
          <p:cNvCxnSpPr>
            <a:stCxn id="10" idx="3"/>
            <a:endCxn id="4" idx="1"/>
          </p:cNvCxnSpPr>
          <p:nvPr/>
        </p:nvCxnSpPr>
        <p:spPr>
          <a:xfrm>
            <a:off x="3561080" y="2558686"/>
            <a:ext cx="97663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533005" y="1966231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水豚是一种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33005" y="2788556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水豚是动物。</a:t>
            </a:r>
          </a:p>
        </p:txBody>
      </p:sp>
      <p:cxnSp>
        <p:nvCxnSpPr>
          <p:cNvPr id="14" name="肘形连接符 13"/>
          <p:cNvCxnSpPr>
            <a:stCxn id="4" idx="3"/>
            <a:endCxn id="12" idx="1"/>
          </p:cNvCxnSpPr>
          <p:nvPr/>
        </p:nvCxnSpPr>
        <p:spPr>
          <a:xfrm flipV="1">
            <a:off x="6683375" y="2196736"/>
            <a:ext cx="849630" cy="36195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4" idx="3"/>
            <a:endCxn id="13" idx="1"/>
          </p:cNvCxnSpPr>
          <p:nvPr/>
        </p:nvCxnSpPr>
        <p:spPr>
          <a:xfrm>
            <a:off x="6683375" y="2558686"/>
            <a:ext cx="849630" cy="46037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 descr="对勾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9510" y="1910351"/>
            <a:ext cx="648335" cy="648335"/>
          </a:xfrm>
          <a:prstGeom prst="rect">
            <a:avLst/>
          </a:prstGeom>
        </p:spPr>
      </p:pic>
      <p:pic>
        <p:nvPicPr>
          <p:cNvPr id="17" name="图片 16" descr="删除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3170" y="2731406"/>
            <a:ext cx="498475" cy="4984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984988" y="6062615"/>
            <a:ext cx="1997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（模仿人类偏好）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151906" y="5360361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水豚是什么？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004185" y="5349511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水豚是一种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</a:p>
        </p:txBody>
      </p:sp>
      <p:cxnSp>
        <p:nvCxnSpPr>
          <p:cNvPr id="24" name="直接箭头连接符 23"/>
          <p:cNvCxnSpPr>
            <a:cxnSpLocks/>
          </p:cNvCxnSpPr>
          <p:nvPr/>
        </p:nvCxnSpPr>
        <p:spPr>
          <a:xfrm>
            <a:off x="5198745" y="5556521"/>
            <a:ext cx="530251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7982698" y="5556521"/>
            <a:ext cx="97663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cxnSpLocks/>
            <a:stCxn id="13" idx="2"/>
          </p:cNvCxnSpPr>
          <p:nvPr/>
        </p:nvCxnSpPr>
        <p:spPr>
          <a:xfrm rot="5400000">
            <a:off x="4406265" y="1136921"/>
            <a:ext cx="2100580" cy="632460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cxnSpLocks/>
            <a:stCxn id="27" idx="3"/>
            <a:endCxn id="4" idx="0"/>
          </p:cNvCxnSpPr>
          <p:nvPr/>
        </p:nvCxnSpPr>
        <p:spPr>
          <a:xfrm flipH="1" flipV="1">
            <a:off x="5610543" y="1966231"/>
            <a:ext cx="5087302" cy="3624317"/>
          </a:xfrm>
          <a:prstGeom prst="bentConnector4">
            <a:avLst>
              <a:gd name="adj1" fmla="val -13848"/>
              <a:gd name="adj2" fmla="val 120209"/>
            </a:avLst>
          </a:prstGeom>
          <a:ln w="25400">
            <a:solidFill>
              <a:schemeClr val="tx1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953625" y="5406398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高分</a:t>
            </a:r>
          </a:p>
        </p:txBody>
      </p:sp>
      <p:sp>
        <p:nvSpPr>
          <p:cNvPr id="29" name="上箭头 28"/>
          <p:cNvSpPr/>
          <p:nvPr/>
        </p:nvSpPr>
        <p:spPr>
          <a:xfrm>
            <a:off x="9412851" y="5263786"/>
            <a:ext cx="220345" cy="54610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7FC676C-997D-58FA-77AB-2558753F1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355" y="2918732"/>
            <a:ext cx="1162050" cy="1209675"/>
          </a:xfrm>
          <a:prstGeom prst="rect">
            <a:avLst/>
          </a:prstGeom>
        </p:spPr>
      </p:pic>
      <p:sp>
        <p:nvSpPr>
          <p:cNvPr id="2" name="平行四边形 1">
            <a:extLst>
              <a:ext uri="{FF2B5EF4-FFF2-40B4-BE49-F238E27FC236}">
                <a16:creationId xmlns:a16="http://schemas.microsoft.com/office/drawing/2014/main" id="{995128DC-F802-4F05-4A9C-E37E4EAF2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357B861-5C48-B91F-1FC7-8602207D9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5">
            <a:extLst>
              <a:ext uri="{FF2B5EF4-FFF2-40B4-BE49-F238E27FC236}">
                <a16:creationId xmlns:a16="http://schemas.microsoft.com/office/drawing/2014/main" id="{6E7E1679-0EC4-5CD6-259A-6A1DBDB04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1.3.2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76CF18-2EA1-D7FD-E549-A33A65EE9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343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对齐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人类反馈强化学习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/>
      <p:bldP spid="13" grpId="0"/>
      <p:bldP spid="19" grpId="0"/>
      <p:bldP spid="21" grpId="0"/>
      <p:bldP spid="22" grpId="0"/>
      <p:bldP spid="27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114425" y="1461135"/>
            <a:ext cx="2097405" cy="929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Transformer Block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660900" y="1461135"/>
            <a:ext cx="2097405" cy="9296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Pretraining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8549640" y="1461135"/>
            <a:ext cx="2097405" cy="9296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Alignment</a:t>
            </a:r>
          </a:p>
        </p:txBody>
      </p:sp>
      <p:sp>
        <p:nvSpPr>
          <p:cNvPr id="6" name="加号 5"/>
          <p:cNvSpPr/>
          <p:nvPr/>
        </p:nvSpPr>
        <p:spPr>
          <a:xfrm>
            <a:off x="3438525" y="1518920"/>
            <a:ext cx="996315" cy="81407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加号 6"/>
          <p:cNvSpPr/>
          <p:nvPr/>
        </p:nvSpPr>
        <p:spPr>
          <a:xfrm>
            <a:off x="7155815" y="1518920"/>
            <a:ext cx="996315" cy="81407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3112770"/>
            <a:ext cx="2345055" cy="34963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74065" y="3054985"/>
            <a:ext cx="2643505" cy="368744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3" idx="2"/>
          </p:cNvCxnSpPr>
          <p:nvPr/>
        </p:nvCxnSpPr>
        <p:spPr>
          <a:xfrm flipH="1">
            <a:off x="798195" y="2390775"/>
            <a:ext cx="1365250" cy="635635"/>
          </a:xfrm>
          <a:prstGeom prst="line">
            <a:avLst/>
          </a:prstGeom>
          <a:ln w="22225"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3" idx="2"/>
          </p:cNvCxnSpPr>
          <p:nvPr/>
        </p:nvCxnSpPr>
        <p:spPr>
          <a:xfrm>
            <a:off x="2163445" y="2390775"/>
            <a:ext cx="1287780" cy="664210"/>
          </a:xfrm>
          <a:prstGeom prst="line">
            <a:avLst/>
          </a:prstGeom>
          <a:ln w="22225"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40" y="3879215"/>
            <a:ext cx="1741805" cy="22593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335" y="3989070"/>
            <a:ext cx="2856865" cy="203898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3790315" y="3362325"/>
            <a:ext cx="7959090" cy="3246755"/>
          </a:xfrm>
          <a:prstGeom prst="rect">
            <a:avLst/>
          </a:prstGeom>
          <a:noFill/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70979" y="2856373"/>
            <a:ext cx="2397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LLM Training  Pipeline</a:t>
            </a:r>
          </a:p>
        </p:txBody>
      </p:sp>
      <p:sp>
        <p:nvSpPr>
          <p:cNvPr id="19" name="左大括号 18"/>
          <p:cNvSpPr/>
          <p:nvPr/>
        </p:nvSpPr>
        <p:spPr>
          <a:xfrm rot="16200000">
            <a:off x="7469188" y="823277"/>
            <a:ext cx="368300" cy="3672840"/>
          </a:xfrm>
          <a:prstGeom prst="leftBrace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845" y="3989070"/>
            <a:ext cx="2999105" cy="168465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505325" y="351091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pretraining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32675" y="3543300"/>
            <a:ext cx="673735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SFT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775825" y="3543300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RLHF</a:t>
            </a:r>
          </a:p>
        </p:txBody>
      </p:sp>
      <p:sp>
        <p:nvSpPr>
          <p:cNvPr id="8" name="矩形 7"/>
          <p:cNvSpPr/>
          <p:nvPr/>
        </p:nvSpPr>
        <p:spPr>
          <a:xfrm>
            <a:off x="6838315" y="3566160"/>
            <a:ext cx="4837430" cy="2871962"/>
          </a:xfrm>
          <a:prstGeom prst="rect">
            <a:avLst/>
          </a:prstGeom>
          <a:noFill/>
          <a:ln w="317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10AE0F72-9944-6CBE-D282-F5D62550F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F5888369-A54E-D593-E7D1-F87D97B1C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" name="文本框 5">
            <a:extLst>
              <a:ext uri="{FF2B5EF4-FFF2-40B4-BE49-F238E27FC236}">
                <a16:creationId xmlns:a16="http://schemas.microsoft.com/office/drawing/2014/main" id="{721F99B7-6F84-BD87-AAB0-6B5370800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480486-02C1-4F0D-4961-A989EB6BF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1571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327CB8-0CE1-5E30-4FE1-44F84F21A870}"/>
              </a:ext>
            </a:extLst>
          </p:cNvPr>
          <p:cNvSpPr/>
          <p:nvPr/>
        </p:nvSpPr>
        <p:spPr>
          <a:xfrm>
            <a:off x="5878086" y="3305100"/>
            <a:ext cx="1642187" cy="79310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35C1DBD-09F9-75BD-3EA9-26CC64DD68C8}"/>
              </a:ext>
            </a:extLst>
          </p:cNvPr>
          <p:cNvSpPr/>
          <p:nvPr/>
        </p:nvSpPr>
        <p:spPr>
          <a:xfrm>
            <a:off x="1016570" y="1495478"/>
            <a:ext cx="3994033" cy="7314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What’s the weather like today?</a:t>
            </a:r>
            <a:r>
              <a:rPr lang="en-US" altLang="zh-CN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 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翻译成中文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A99B4F-8643-C750-921F-F3F77FD07225}"/>
              </a:ext>
            </a:extLst>
          </p:cNvPr>
          <p:cNvSpPr/>
          <p:nvPr/>
        </p:nvSpPr>
        <p:spPr>
          <a:xfrm>
            <a:off x="1209666" y="2714679"/>
            <a:ext cx="3228394" cy="87293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3x+9=12,x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等于几？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442F0F-8C11-8682-E6FE-26FCDB61818C}"/>
              </a:ext>
            </a:extLst>
          </p:cNvPr>
          <p:cNvSpPr/>
          <p:nvPr/>
        </p:nvSpPr>
        <p:spPr>
          <a:xfrm>
            <a:off x="962406" y="4332505"/>
            <a:ext cx="4102359" cy="8729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总结一下西游记的故事</a:t>
            </a: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24C612CE-94DF-B824-FD4A-CAD89FB1276E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5010603" y="1861187"/>
            <a:ext cx="867483" cy="1840464"/>
          </a:xfrm>
          <a:prstGeom prst="curvedConnector3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4C3D1671-0A02-D74E-BC70-3C8F3215C3D6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4438060" y="3151144"/>
            <a:ext cx="1440026" cy="550507"/>
          </a:xfrm>
          <a:prstGeom prst="curvedConnector3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B8CF0DD8-04CF-BF88-FA01-FA152DF252E5}"/>
              </a:ext>
            </a:extLst>
          </p:cNvPr>
          <p:cNvCxnSpPr>
            <a:stCxn id="13" idx="3"/>
            <a:endCxn id="5" idx="1"/>
          </p:cNvCxnSpPr>
          <p:nvPr/>
        </p:nvCxnSpPr>
        <p:spPr>
          <a:xfrm flipV="1">
            <a:off x="5064765" y="3701651"/>
            <a:ext cx="813321" cy="1067319"/>
          </a:xfrm>
          <a:prstGeom prst="curvedConnector3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70F6F19-0726-8AFC-2577-1F44A2D5CC32}"/>
              </a:ext>
            </a:extLst>
          </p:cNvPr>
          <p:cNvSpPr/>
          <p:nvPr/>
        </p:nvSpPr>
        <p:spPr>
          <a:xfrm>
            <a:off x="8108866" y="2319804"/>
            <a:ext cx="2319186" cy="6344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今天天气如何？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46C4AFA-D99F-17CE-3B7D-C6F1FE17330F}"/>
              </a:ext>
            </a:extLst>
          </p:cNvPr>
          <p:cNvSpPr/>
          <p:nvPr/>
        </p:nvSpPr>
        <p:spPr>
          <a:xfrm>
            <a:off x="8840029" y="3357844"/>
            <a:ext cx="1135752" cy="43646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x=1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85494B2-0BD8-7675-66DC-F107FD80909B}"/>
              </a:ext>
            </a:extLst>
          </p:cNvPr>
          <p:cNvSpPr/>
          <p:nvPr/>
        </p:nvSpPr>
        <p:spPr>
          <a:xfrm>
            <a:off x="8333594" y="4323432"/>
            <a:ext cx="3339597" cy="57930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西游记讲的是唐僧师徒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8A97D7EF-9B99-87DB-EE38-3A32969EB7DF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 flipV="1">
            <a:off x="7520273" y="2637050"/>
            <a:ext cx="588593" cy="1064601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F2B15F2D-76BC-53E1-AD10-373513A36F4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7520273" y="3576077"/>
            <a:ext cx="1319756" cy="125574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D764BA02-E2E9-CA5D-5755-5E3D2E137999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7520273" y="3701651"/>
            <a:ext cx="813321" cy="91143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A0D01FC4-B129-B5E1-8448-560E3B145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2" name="平行四边形 41">
            <a:extLst>
              <a:ext uri="{FF2B5EF4-FFF2-40B4-BE49-F238E27FC236}">
                <a16:creationId xmlns:a16="http://schemas.microsoft.com/office/drawing/2014/main" id="{B065BBB3-B7B0-AE18-2AF5-7D82B78FC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3" name="文本框 5">
            <a:extLst>
              <a:ext uri="{FF2B5EF4-FFF2-40B4-BE49-F238E27FC236}">
                <a16:creationId xmlns:a16="http://schemas.microsoft.com/office/drawing/2014/main" id="{9839D68A-A06A-E645-9699-8313DB956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679C48B-A73D-94AC-D065-503350235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提示工程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F1DD6E-C4FC-F620-BCFA-599BBBAF9E3C}"/>
              </a:ext>
            </a:extLst>
          </p:cNvPr>
          <p:cNvSpPr txBox="1"/>
          <p:nvPr/>
        </p:nvSpPr>
        <p:spPr>
          <a:xfrm>
            <a:off x="2407298" y="5245227"/>
            <a:ext cx="165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87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6422" name="组合 7"/>
          <p:cNvGrpSpPr/>
          <p:nvPr/>
        </p:nvGrpSpPr>
        <p:grpSpPr bwMode="auto">
          <a:xfrm>
            <a:off x="2365376" y="3219602"/>
            <a:ext cx="3736976" cy="534629"/>
            <a:chOff x="1129" y="-1"/>
            <a:chExt cx="5407385" cy="535340"/>
          </a:xfrm>
        </p:grpSpPr>
        <p:sp>
          <p:nvSpPr>
            <p:cNvPr id="16426" name="矩形 11"/>
            <p:cNvSpPr>
              <a:spLocks noChangeArrowheads="1"/>
            </p:cNvSpPr>
            <p:nvPr/>
          </p:nvSpPr>
          <p:spPr bwMode="auto">
            <a:xfrm>
              <a:off x="1129" y="-1"/>
              <a:ext cx="5402788" cy="53534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27" name="Rectangle 6"/>
            <p:cNvSpPr>
              <a:spLocks noChangeArrowheads="1"/>
            </p:cNvSpPr>
            <p:nvPr/>
          </p:nvSpPr>
          <p:spPr bwMode="auto">
            <a:xfrm>
              <a:off x="532479" y="45775"/>
              <a:ext cx="4876035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提示工程小知识</a:t>
              </a:r>
            </a:p>
          </p:txBody>
        </p:sp>
      </p:grpSp>
      <p:grpSp>
        <p:nvGrpSpPr>
          <p:cNvPr id="16423" name="组合 8"/>
          <p:cNvGrpSpPr/>
          <p:nvPr/>
        </p:nvGrpSpPr>
        <p:grpSpPr bwMode="auto">
          <a:xfrm>
            <a:off x="850900" y="3219603"/>
            <a:ext cx="1328550" cy="488950"/>
            <a:chOff x="0" y="0"/>
            <a:chExt cx="1328685" cy="489600"/>
          </a:xfrm>
        </p:grpSpPr>
        <p:sp>
          <p:nvSpPr>
            <p:cNvPr id="16424" name="矩形 9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25" name="文本框 10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2.1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16" name="组合 14"/>
          <p:cNvGrpSpPr/>
          <p:nvPr/>
        </p:nvGrpSpPr>
        <p:grpSpPr bwMode="auto">
          <a:xfrm>
            <a:off x="2365375" y="3880003"/>
            <a:ext cx="3733800" cy="488950"/>
            <a:chOff x="1129" y="0"/>
            <a:chExt cx="5402789" cy="489600"/>
          </a:xfrm>
        </p:grpSpPr>
        <p:sp>
          <p:nvSpPr>
            <p:cNvPr id="16420" name="矩形 18"/>
            <p:cNvSpPr>
              <a:spLocks noChangeArrowheads="1"/>
            </p:cNvSpPr>
            <p:nvPr/>
          </p:nvSpPr>
          <p:spPr bwMode="auto">
            <a:xfrm>
              <a:off x="1129" y="0"/>
              <a:ext cx="5402789" cy="48960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21" name="Rectangle 6"/>
            <p:cNvSpPr>
              <a:spLocks noChangeArrowheads="1"/>
            </p:cNvSpPr>
            <p:nvPr/>
          </p:nvSpPr>
          <p:spPr bwMode="auto">
            <a:xfrm>
              <a:off x="532478" y="45775"/>
              <a:ext cx="4866845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提示工程实战</a:t>
              </a:r>
            </a:p>
          </p:txBody>
        </p:sp>
      </p:grpSp>
      <p:grpSp>
        <p:nvGrpSpPr>
          <p:cNvPr id="16417" name="组合 15"/>
          <p:cNvGrpSpPr/>
          <p:nvPr/>
        </p:nvGrpSpPr>
        <p:grpSpPr bwMode="auto">
          <a:xfrm>
            <a:off x="850900" y="3880003"/>
            <a:ext cx="1328550" cy="488950"/>
            <a:chOff x="0" y="0"/>
            <a:chExt cx="1328685" cy="489600"/>
          </a:xfrm>
        </p:grpSpPr>
        <p:sp>
          <p:nvSpPr>
            <p:cNvPr id="16418" name="矩形 16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9" name="文本框 17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410" name="组合 21"/>
          <p:cNvGrpSpPr/>
          <p:nvPr/>
        </p:nvGrpSpPr>
        <p:grpSpPr bwMode="auto">
          <a:xfrm>
            <a:off x="2362200" y="4540403"/>
            <a:ext cx="3733800" cy="488950"/>
            <a:chOff x="1129" y="0"/>
            <a:chExt cx="5402789" cy="489600"/>
          </a:xfrm>
        </p:grpSpPr>
        <p:sp>
          <p:nvSpPr>
            <p:cNvPr id="16414" name="矩形 25"/>
            <p:cNvSpPr>
              <a:spLocks noChangeArrowheads="1"/>
            </p:cNvSpPr>
            <p:nvPr/>
          </p:nvSpPr>
          <p:spPr bwMode="auto">
            <a:xfrm>
              <a:off x="1129" y="0"/>
              <a:ext cx="5402789" cy="48960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15" name="Rectangle 6"/>
            <p:cNvSpPr>
              <a:spLocks noChangeArrowheads="1"/>
            </p:cNvSpPr>
            <p:nvPr/>
          </p:nvSpPr>
          <p:spPr bwMode="auto">
            <a:xfrm>
              <a:off x="532478" y="45775"/>
              <a:ext cx="4465679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模型工程小技巧</a:t>
              </a:r>
            </a:p>
          </p:txBody>
        </p:sp>
      </p:grpSp>
      <p:grpSp>
        <p:nvGrpSpPr>
          <p:cNvPr id="16411" name="组合 22"/>
          <p:cNvGrpSpPr/>
          <p:nvPr/>
        </p:nvGrpSpPr>
        <p:grpSpPr bwMode="auto">
          <a:xfrm>
            <a:off x="847725" y="4540403"/>
            <a:ext cx="1328550" cy="488950"/>
            <a:chOff x="0" y="0"/>
            <a:chExt cx="1328685" cy="489600"/>
          </a:xfrm>
        </p:grpSpPr>
        <p:sp>
          <p:nvSpPr>
            <p:cNvPr id="16412" name="矩形 23"/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413" name="文本框 24"/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2.3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392" name="组合 34"/>
          <p:cNvGrpSpPr/>
          <p:nvPr/>
        </p:nvGrpSpPr>
        <p:grpSpPr bwMode="auto">
          <a:xfrm>
            <a:off x="460056" y="1264443"/>
            <a:ext cx="2701925" cy="900113"/>
            <a:chOff x="0" y="0"/>
            <a:chExt cx="2702007" cy="899374"/>
          </a:xfrm>
        </p:grpSpPr>
        <p:grpSp>
          <p:nvGrpSpPr>
            <p:cNvPr id="16400" name="组合 35"/>
            <p:cNvGrpSpPr/>
            <p:nvPr/>
          </p:nvGrpSpPr>
          <p:grpSpPr bwMode="auto">
            <a:xfrm>
              <a:off x="0" y="0"/>
              <a:ext cx="2702007" cy="849531"/>
              <a:chOff x="0" y="0"/>
              <a:chExt cx="2702007" cy="849531"/>
            </a:xfrm>
          </p:grpSpPr>
          <p:sp>
            <p:nvSpPr>
              <p:cNvPr id="16402" name="文本框 37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143256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3600" b="1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</a:t>
                </a:r>
                <a:r>
                  <a:rPr lang="zh-CN" altLang="en-US" sz="3600" b="1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录</a:t>
                </a:r>
              </a:p>
            </p:txBody>
          </p:sp>
          <p:cxnSp>
            <p:nvCxnSpPr>
              <p:cNvPr id="16403" name="直接连接符 38"/>
              <p:cNvCxnSpPr>
                <a:cxnSpLocks noChangeShapeType="1"/>
              </p:cNvCxnSpPr>
              <p:nvPr/>
            </p:nvCxnSpPr>
            <p:spPr bwMode="auto">
              <a:xfrm>
                <a:off x="150817" y="850201"/>
                <a:ext cx="255119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401" name="文本框 36"/>
            <p:cNvSpPr txBox="1">
              <a:spLocks noChangeArrowheads="1"/>
            </p:cNvSpPr>
            <p:nvPr/>
          </p:nvSpPr>
          <p:spPr bwMode="auto">
            <a:xfrm>
              <a:off x="527947" y="499264"/>
              <a:ext cx="14325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17F2-DE62-A445-9F03-50055757659A}" type="slidenum">
              <a:rPr lang="zh-CN" altLang="en-US" smtClean="0"/>
              <a:t>13</a:t>
            </a:fld>
            <a:endParaRPr lang="zh-CN" altLang="en-US"/>
          </a:p>
        </p:txBody>
      </p:sp>
      <p:grpSp>
        <p:nvGrpSpPr>
          <p:cNvPr id="3" name="组合 21">
            <a:extLst>
              <a:ext uri="{FF2B5EF4-FFF2-40B4-BE49-F238E27FC236}">
                <a16:creationId xmlns:a16="http://schemas.microsoft.com/office/drawing/2014/main" id="{BFF12819-0E85-5F0B-7B39-8BC5402BD237}"/>
              </a:ext>
            </a:extLst>
          </p:cNvPr>
          <p:cNvGrpSpPr/>
          <p:nvPr/>
        </p:nvGrpSpPr>
        <p:grpSpPr bwMode="auto">
          <a:xfrm>
            <a:off x="2362200" y="5225203"/>
            <a:ext cx="3733800" cy="488950"/>
            <a:chOff x="1129" y="0"/>
            <a:chExt cx="5402789" cy="489600"/>
          </a:xfrm>
        </p:grpSpPr>
        <p:sp>
          <p:nvSpPr>
            <p:cNvPr id="4" name="矩形 25">
              <a:extLst>
                <a:ext uri="{FF2B5EF4-FFF2-40B4-BE49-F238E27FC236}">
                  <a16:creationId xmlns:a16="http://schemas.microsoft.com/office/drawing/2014/main" id="{A4034A8B-D15F-649D-7FA4-0819CE24B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0"/>
              <a:ext cx="5402789" cy="489600"/>
            </a:xfrm>
            <a:prstGeom prst="rect">
              <a:avLst/>
            </a:prstGeom>
            <a:noFill/>
            <a:ln w="9525">
              <a:solidFill>
                <a:srgbClr val="40404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1600" b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9B5543D6-B5DD-C6A6-43D5-F632742F4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78" y="45775"/>
              <a:ext cx="4465679" cy="400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提示工程与微调</a:t>
              </a:r>
            </a:p>
          </p:txBody>
        </p:sp>
      </p:grpSp>
      <p:grpSp>
        <p:nvGrpSpPr>
          <p:cNvPr id="6" name="组合 22">
            <a:extLst>
              <a:ext uri="{FF2B5EF4-FFF2-40B4-BE49-F238E27FC236}">
                <a16:creationId xmlns:a16="http://schemas.microsoft.com/office/drawing/2014/main" id="{D82D55C7-1744-8BFD-B320-12CB512131EF}"/>
              </a:ext>
            </a:extLst>
          </p:cNvPr>
          <p:cNvGrpSpPr/>
          <p:nvPr/>
        </p:nvGrpSpPr>
        <p:grpSpPr bwMode="auto">
          <a:xfrm>
            <a:off x="847725" y="5225203"/>
            <a:ext cx="1328550" cy="488950"/>
            <a:chOff x="0" y="0"/>
            <a:chExt cx="1328685" cy="489600"/>
          </a:xfrm>
        </p:grpSpPr>
        <p:sp>
          <p:nvSpPr>
            <p:cNvPr id="7" name="矩形 23">
              <a:extLst>
                <a:ext uri="{FF2B5EF4-FFF2-40B4-BE49-F238E27FC236}">
                  <a16:creationId xmlns:a16="http://schemas.microsoft.com/office/drawing/2014/main" id="{42674572-A319-8F9D-B396-3C5508C96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328873" cy="489600"/>
            </a:xfrm>
            <a:prstGeom prst="rect">
              <a:avLst/>
            </a:prstGeom>
            <a:solidFill>
              <a:srgbClr val="006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文本框 24">
              <a:extLst>
                <a:ext uri="{FF2B5EF4-FFF2-40B4-BE49-F238E27FC236}">
                  <a16:creationId xmlns:a16="http://schemas.microsoft.com/office/drawing/2014/main" id="{F52B3E75-60A3-D3ED-6DF5-CA1557367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29" y="37029"/>
              <a:ext cx="96208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2.4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913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B4245A3-E195-D5B6-3B67-0B9812125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66596" y="2101880"/>
            <a:ext cx="1359159" cy="115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F6ADE3E-C7A2-3945-9629-F9267307EB6F}"/>
              </a:ext>
            </a:extLst>
          </p:cNvPr>
          <p:cNvCxnSpPr/>
          <p:nvPr/>
        </p:nvCxnSpPr>
        <p:spPr>
          <a:xfrm>
            <a:off x="8367379" y="3261572"/>
            <a:ext cx="0" cy="697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90810F-3640-95D0-7AC9-17D5DAC5E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601" y="3959791"/>
            <a:ext cx="1522186" cy="101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204BA0-014A-7685-A7EA-1380DD5B17D1}"/>
              </a:ext>
            </a:extLst>
          </p:cNvPr>
          <p:cNvSpPr txBox="1"/>
          <p:nvPr/>
        </p:nvSpPr>
        <p:spPr>
          <a:xfrm>
            <a:off x="9045109" y="4300860"/>
            <a:ext cx="84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？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4D980D-B096-CB56-03CB-37DD8AF71223}"/>
              </a:ext>
            </a:extLst>
          </p:cNvPr>
          <p:cNvGrpSpPr/>
          <p:nvPr/>
        </p:nvGrpSpPr>
        <p:grpSpPr>
          <a:xfrm>
            <a:off x="4464114" y="2149508"/>
            <a:ext cx="7163751" cy="1016764"/>
            <a:chOff x="4464114" y="994892"/>
            <a:chExt cx="7163751" cy="1016764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C02B8445-B144-4B6E-4080-ACBCCDFD5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114" y="1003088"/>
              <a:ext cx="1507477" cy="99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8D8BCA8-3516-782F-DF0F-A4FBE5DC1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9709" y="1003088"/>
              <a:ext cx="1592252" cy="99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2DF1AA6D-4B28-572F-2C7E-C8FC83580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2661" y="994892"/>
              <a:ext cx="1592252" cy="1016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A430A5E6-F554-8D60-4700-EAF356A7C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5613" y="1003088"/>
              <a:ext cx="1592252" cy="99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5029200" y="4773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484EBD-0B86-6AE7-AAD9-E55FA49ECC26}"/>
              </a:ext>
            </a:extLst>
          </p:cNvPr>
          <p:cNvSpPr txBox="1"/>
          <p:nvPr/>
        </p:nvSpPr>
        <p:spPr>
          <a:xfrm>
            <a:off x="1766596" y="1426339"/>
            <a:ext cx="17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零样本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3160B-D7E5-4EA7-1DAD-9D0FD5FB751F}"/>
              </a:ext>
            </a:extLst>
          </p:cNvPr>
          <p:cNvSpPr txBox="1"/>
          <p:nvPr/>
        </p:nvSpPr>
        <p:spPr>
          <a:xfrm>
            <a:off x="8379408" y="1426339"/>
            <a:ext cx="17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少样本</a:t>
            </a:r>
          </a:p>
        </p:txBody>
      </p:sp>
      <p:sp>
        <p:nvSpPr>
          <p:cNvPr id="34" name="平行四边形 33">
            <a:extLst>
              <a:ext uri="{FF2B5EF4-FFF2-40B4-BE49-F238E27FC236}">
                <a16:creationId xmlns:a16="http://schemas.microsoft.com/office/drawing/2014/main" id="{B86B2703-12E2-EBAD-0BF3-2DECB1A5A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5" name="平行四边形 34">
            <a:extLst>
              <a:ext uri="{FF2B5EF4-FFF2-40B4-BE49-F238E27FC236}">
                <a16:creationId xmlns:a16="http://schemas.microsoft.com/office/drawing/2014/main" id="{AFCAD77B-01C7-6C3F-7913-C9B86B799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文本框 5">
            <a:extLst>
              <a:ext uri="{FF2B5EF4-FFF2-40B4-BE49-F238E27FC236}">
                <a16:creationId xmlns:a16="http://schemas.microsoft.com/office/drawing/2014/main" id="{465FA846-5F92-7FB3-C1AC-1450808C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4A3A930-281E-189F-21E6-A98D4BF7EF06}"/>
              </a:ext>
            </a:extLst>
          </p:cNvPr>
          <p:cNvSpPr txBox="1"/>
          <p:nvPr/>
        </p:nvSpPr>
        <p:spPr>
          <a:xfrm>
            <a:off x="1416925" y="422870"/>
            <a:ext cx="221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提示工程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小知识</a:t>
            </a:r>
            <a:endParaRPr lang="zh-CN" altLang="en-US" sz="1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33DA7E7B-C294-E9F2-C3F6-B2987E68D1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9894" y="1823573"/>
            <a:ext cx="6132106" cy="4030253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DDE0F10A-D867-1EEE-0456-1711679227FD}"/>
              </a:ext>
            </a:extLst>
          </p:cNvPr>
          <p:cNvGrpSpPr/>
          <p:nvPr/>
        </p:nvGrpSpPr>
        <p:grpSpPr>
          <a:xfrm>
            <a:off x="6723532" y="4879939"/>
            <a:ext cx="4942745" cy="733360"/>
            <a:chOff x="6573736" y="4884218"/>
            <a:chExt cx="4942745" cy="733360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CEA2F8F6-EA90-CF06-1331-F32D6C7519AF}"/>
                </a:ext>
              </a:extLst>
            </p:cNvPr>
            <p:cNvSpPr/>
            <p:nvPr/>
          </p:nvSpPr>
          <p:spPr>
            <a:xfrm>
              <a:off x="6573736" y="4884218"/>
              <a:ext cx="4942745" cy="7333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4" name="图形 53" descr="疑问">
              <a:extLst>
                <a:ext uri="{FF2B5EF4-FFF2-40B4-BE49-F238E27FC236}">
                  <a16:creationId xmlns:a16="http://schemas.microsoft.com/office/drawing/2014/main" id="{C7AAE298-1EF1-0371-AE8B-A8DA6BB63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752683" y="4910774"/>
              <a:ext cx="642686" cy="642686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2C2C1445-D3E6-72AD-2613-588ABCC66C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0306" y="1853890"/>
            <a:ext cx="5822260" cy="1655671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3B662BF7-6317-5B35-0936-57F8B5048494}"/>
              </a:ext>
            </a:extLst>
          </p:cNvPr>
          <p:cNvGrpSpPr/>
          <p:nvPr/>
        </p:nvGrpSpPr>
        <p:grpSpPr>
          <a:xfrm>
            <a:off x="6743166" y="3941499"/>
            <a:ext cx="4929268" cy="749749"/>
            <a:chOff x="6628566" y="3973912"/>
            <a:chExt cx="4929268" cy="749749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1D63AA91-4CDC-A1CC-D20E-7A73EA0C15EA}"/>
                </a:ext>
              </a:extLst>
            </p:cNvPr>
            <p:cNvSpPr/>
            <p:nvPr/>
          </p:nvSpPr>
          <p:spPr>
            <a:xfrm>
              <a:off x="6628566" y="3973912"/>
              <a:ext cx="4929268" cy="74974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" name="图形 50" descr="大哭">
              <a:extLst>
                <a:ext uri="{FF2B5EF4-FFF2-40B4-BE49-F238E27FC236}">
                  <a16:creationId xmlns:a16="http://schemas.microsoft.com/office/drawing/2014/main" id="{314F33C8-2EB0-FDF8-7B5A-98EDB9F30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34234" y="4154772"/>
              <a:ext cx="479800" cy="488482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1A61686-B9FF-2BAF-206E-2BA95FE2BA27}"/>
              </a:ext>
            </a:extLst>
          </p:cNvPr>
          <p:cNvGrpSpPr/>
          <p:nvPr/>
        </p:nvGrpSpPr>
        <p:grpSpPr>
          <a:xfrm>
            <a:off x="6743166" y="2168776"/>
            <a:ext cx="4929269" cy="686021"/>
            <a:chOff x="6619040" y="2230705"/>
            <a:chExt cx="4929269" cy="686021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CA69CBA0-C058-A142-64AF-617CCD3945FA}"/>
                </a:ext>
              </a:extLst>
            </p:cNvPr>
            <p:cNvSpPr/>
            <p:nvPr/>
          </p:nvSpPr>
          <p:spPr>
            <a:xfrm>
              <a:off x="6619040" y="2230705"/>
              <a:ext cx="4929269" cy="686021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5" name="图形 44" descr="微笑">
              <a:extLst>
                <a:ext uri="{FF2B5EF4-FFF2-40B4-BE49-F238E27FC236}">
                  <a16:creationId xmlns:a16="http://schemas.microsoft.com/office/drawing/2014/main" id="{F0252A6E-1647-8A1E-E319-593E281A2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903180" y="2386089"/>
              <a:ext cx="470596" cy="438388"/>
            </a:xfrm>
            <a:prstGeom prst="rect">
              <a:avLst/>
            </a:prstGeom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8A2C8F4-D88B-E2F9-4278-BE2BD1F0C032}"/>
              </a:ext>
            </a:extLst>
          </p:cNvPr>
          <p:cNvGrpSpPr/>
          <p:nvPr/>
        </p:nvGrpSpPr>
        <p:grpSpPr>
          <a:xfrm>
            <a:off x="6746342" y="3042054"/>
            <a:ext cx="4929268" cy="749749"/>
            <a:chOff x="6628565" y="3044000"/>
            <a:chExt cx="4929268" cy="749749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866BD26-419F-4AA9-02D6-C0586F228369}"/>
                </a:ext>
              </a:extLst>
            </p:cNvPr>
            <p:cNvSpPr/>
            <p:nvPr/>
          </p:nvSpPr>
          <p:spPr>
            <a:xfrm>
              <a:off x="6628565" y="3044000"/>
              <a:ext cx="4929268" cy="74974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8" name="图形 47" descr="大哭">
              <a:extLst>
                <a:ext uri="{FF2B5EF4-FFF2-40B4-BE49-F238E27FC236}">
                  <a16:creationId xmlns:a16="http://schemas.microsoft.com/office/drawing/2014/main" id="{35AAAD76-C24C-27DD-3405-75D503008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8954" y="3177905"/>
              <a:ext cx="479800" cy="488482"/>
            </a:xfrm>
            <a:prstGeom prst="rect">
              <a:avLst/>
            </a:prstGeom>
          </p:spPr>
        </p:pic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1DDC30A1-0EFD-562E-8F78-9A5134BED1B6}"/>
              </a:ext>
            </a:extLst>
          </p:cNvPr>
          <p:cNvSpPr txBox="1"/>
          <p:nvPr/>
        </p:nvSpPr>
        <p:spPr>
          <a:xfrm>
            <a:off x="7280730" y="5161380"/>
            <a:ext cx="65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562CFA-8CB9-7D82-395C-E90D97DD8100}"/>
              </a:ext>
            </a:extLst>
          </p:cNvPr>
          <p:cNvSpPr txBox="1"/>
          <p:nvPr/>
        </p:nvSpPr>
        <p:spPr>
          <a:xfrm>
            <a:off x="136880" y="990502"/>
            <a:ext cx="231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指令提示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C9F2D95-172F-5F63-B28A-8268DE6E1ED5}"/>
              </a:ext>
            </a:extLst>
          </p:cNvPr>
          <p:cNvGrpSpPr/>
          <p:nvPr/>
        </p:nvGrpSpPr>
        <p:grpSpPr>
          <a:xfrm>
            <a:off x="2546613" y="1047982"/>
            <a:ext cx="7041501" cy="1440809"/>
            <a:chOff x="1208016" y="1012783"/>
            <a:chExt cx="4484126" cy="144080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0827A43-49A6-0D66-A37E-5F4579145538}"/>
                </a:ext>
              </a:extLst>
            </p:cNvPr>
            <p:cNvSpPr/>
            <p:nvPr/>
          </p:nvSpPr>
          <p:spPr>
            <a:xfrm>
              <a:off x="1208016" y="1012783"/>
              <a:ext cx="4484126" cy="1440809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56AE9FE-08EB-3B11-A7D8-72E61924CA64}"/>
                </a:ext>
              </a:extLst>
            </p:cNvPr>
            <p:cNvSpPr txBox="1"/>
            <p:nvPr/>
          </p:nvSpPr>
          <p:spPr>
            <a:xfrm>
              <a:off x="1503060" y="1222310"/>
              <a:ext cx="4023120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请标出如下文本内容的情感，情感标签只能是“</a:t>
              </a:r>
              <a:r>
                <a:rPr lang="zh-CN" altLang="en-US" sz="1600" dirty="0">
                  <a:solidFill>
                    <a:schemeClr val="accent6">
                      <a:lumMod val="7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积极”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或者</a:t>
              </a:r>
              <a:r>
                <a:rPr lang="zh-CN" altLang="en-US" sz="1600" dirty="0">
                  <a:solidFill>
                    <a:schemeClr val="accent6">
                      <a:lumMod val="7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“消极”。</a:t>
              </a:r>
              <a:endParaRPr lang="en-US" altLang="zh-CN" sz="16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文本：今天天气真不错，我感觉充满活力。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dirty="0">
                  <a:solidFill>
                    <a:schemeClr val="accent6">
                      <a:lumMod val="7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情感：</a:t>
              </a: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81FB7D-B650-6F42-37D5-7742C7566941}"/>
              </a:ext>
            </a:extLst>
          </p:cNvPr>
          <p:cNvSpPr/>
          <p:nvPr/>
        </p:nvSpPr>
        <p:spPr>
          <a:xfrm>
            <a:off x="2546612" y="2827175"/>
            <a:ext cx="7041501" cy="37424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025792-363C-99A1-BE5D-B27BA72AFA2C}"/>
              </a:ext>
            </a:extLst>
          </p:cNvPr>
          <p:cNvSpPr txBox="1"/>
          <p:nvPr/>
        </p:nvSpPr>
        <p:spPr>
          <a:xfrm>
            <a:off x="102967" y="2391178"/>
            <a:ext cx="368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上下文学习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CC721D-F585-9460-0D79-E644E55FCF25}"/>
              </a:ext>
            </a:extLst>
          </p:cNvPr>
          <p:cNvSpPr txBox="1"/>
          <p:nvPr/>
        </p:nvSpPr>
        <p:spPr>
          <a:xfrm>
            <a:off x="2777147" y="3037998"/>
            <a:ext cx="6839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请标出如下文本内容的情感，情感标签只能是“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积极”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“消极”。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文本：星空下的夜晚，微风拂过，远处传来蟋蟀的鸣叫声，让人感受到大自然的宁静与和谐。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情感：积极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F7A296-255C-6E56-5101-AA6FC02AE18C}"/>
              </a:ext>
            </a:extLst>
          </p:cNvPr>
          <p:cNvSpPr txBox="1"/>
          <p:nvPr/>
        </p:nvSpPr>
        <p:spPr>
          <a:xfrm>
            <a:off x="2748776" y="4164133"/>
            <a:ext cx="6839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请标出如下文本内容的情感，情感标签只能是“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积极”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“消极”。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文本：漫天飘舞的雪花，一片寂静的森林里，一只孤独的鹿默默地站在那里，仿佛在等待着永远不会到来的伙伴。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情感：消极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2CEE9F-8B86-EF33-596A-E8FC6785B77F}"/>
              </a:ext>
            </a:extLst>
          </p:cNvPr>
          <p:cNvSpPr txBox="1"/>
          <p:nvPr/>
        </p:nvSpPr>
        <p:spPr>
          <a:xfrm>
            <a:off x="2777147" y="5496376"/>
            <a:ext cx="6839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请标出如下文本内容的情感，情感标签只能是“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积极”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“消极”。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文本：今天天气真不错，我感觉充满活力。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情感：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81933FD-11E3-CA30-28B8-907854BFF9AF}"/>
              </a:ext>
            </a:extLst>
          </p:cNvPr>
          <p:cNvGrpSpPr/>
          <p:nvPr/>
        </p:nvGrpSpPr>
        <p:grpSpPr>
          <a:xfrm>
            <a:off x="2739823" y="3018876"/>
            <a:ext cx="6718040" cy="1003661"/>
            <a:chOff x="2136709" y="3037998"/>
            <a:chExt cx="6718040" cy="100366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D4A5FB5-0F78-1DCF-6AEA-47FCAC24E6CB}"/>
                </a:ext>
              </a:extLst>
            </p:cNvPr>
            <p:cNvSpPr/>
            <p:nvPr/>
          </p:nvSpPr>
          <p:spPr>
            <a:xfrm>
              <a:off x="2136709" y="3037998"/>
              <a:ext cx="6718040" cy="1003661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2" name="图形 21" descr="微笑">
              <a:extLst>
                <a:ext uri="{FF2B5EF4-FFF2-40B4-BE49-F238E27FC236}">
                  <a16:creationId xmlns:a16="http://schemas.microsoft.com/office/drawing/2014/main" id="{A954C356-AFDE-E927-7906-2A5BC203C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85885" y="3265328"/>
              <a:ext cx="641370" cy="641370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25B7562-C8A9-3FEE-BDEC-B714819E9E6C}"/>
              </a:ext>
            </a:extLst>
          </p:cNvPr>
          <p:cNvGrpSpPr/>
          <p:nvPr/>
        </p:nvGrpSpPr>
        <p:grpSpPr>
          <a:xfrm>
            <a:off x="2708342" y="4171865"/>
            <a:ext cx="6718040" cy="1003661"/>
            <a:chOff x="2105228" y="4190987"/>
            <a:chExt cx="6718040" cy="100366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F485F511-A834-C935-4531-0F87F6F45221}"/>
                </a:ext>
              </a:extLst>
            </p:cNvPr>
            <p:cNvSpPr/>
            <p:nvPr/>
          </p:nvSpPr>
          <p:spPr>
            <a:xfrm>
              <a:off x="2105228" y="4190987"/>
              <a:ext cx="6718040" cy="1003661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 descr="大哭">
              <a:extLst>
                <a:ext uri="{FF2B5EF4-FFF2-40B4-BE49-F238E27FC236}">
                  <a16:creationId xmlns:a16="http://schemas.microsoft.com/office/drawing/2014/main" id="{FA8EB35F-9B96-D8E8-B431-138F8C1CF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85885" y="4370241"/>
              <a:ext cx="653913" cy="653913"/>
            </a:xfrm>
            <a:prstGeom prst="rect">
              <a:avLst/>
            </a:prstGeom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2791251-C5BB-7FFE-D1B9-D36FE9499EAA}"/>
              </a:ext>
            </a:extLst>
          </p:cNvPr>
          <p:cNvSpPr txBox="1"/>
          <p:nvPr/>
        </p:nvSpPr>
        <p:spPr>
          <a:xfrm>
            <a:off x="3281000" y="5896486"/>
            <a:ext cx="755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积极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70D75AC-09BE-F002-DB8F-515D09203404}"/>
              </a:ext>
            </a:extLst>
          </p:cNvPr>
          <p:cNvGrpSpPr/>
          <p:nvPr/>
        </p:nvGrpSpPr>
        <p:grpSpPr>
          <a:xfrm>
            <a:off x="2708342" y="5370729"/>
            <a:ext cx="6718040" cy="1003661"/>
            <a:chOff x="6117392" y="4904060"/>
            <a:chExt cx="6718040" cy="100366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BED9264-2AC7-E035-F4C7-EFF9D26ED8D3}"/>
                </a:ext>
              </a:extLst>
            </p:cNvPr>
            <p:cNvSpPr/>
            <p:nvPr/>
          </p:nvSpPr>
          <p:spPr>
            <a:xfrm>
              <a:off x="6117392" y="4904060"/>
              <a:ext cx="6718040" cy="100366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形 25" descr="疑问">
              <a:extLst>
                <a:ext uri="{FF2B5EF4-FFF2-40B4-BE49-F238E27FC236}">
                  <a16:creationId xmlns:a16="http://schemas.microsoft.com/office/drawing/2014/main" id="{D05E84FC-664B-9F79-94C9-42A8C3002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09276" y="5084547"/>
              <a:ext cx="642686" cy="642686"/>
            </a:xfrm>
            <a:prstGeom prst="rect">
              <a:avLst/>
            </a:prstGeom>
          </p:spPr>
        </p:pic>
      </p:grp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27DFEF27-3246-D06D-5FFD-EF98523DE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3" name="平行四边形 32">
            <a:extLst>
              <a:ext uri="{FF2B5EF4-FFF2-40B4-BE49-F238E27FC236}">
                <a16:creationId xmlns:a16="http://schemas.microsoft.com/office/drawing/2014/main" id="{D1B3B506-1A47-C0C3-5FF4-A8D6332E7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文本框 5">
            <a:extLst>
              <a:ext uri="{FF2B5EF4-FFF2-40B4-BE49-F238E27FC236}">
                <a16:creationId xmlns:a16="http://schemas.microsoft.com/office/drawing/2014/main" id="{06AD23D1-D40C-84C0-AF0B-0584D7C24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BF745C-B81D-49D4-A264-5F8EF5F50059}"/>
              </a:ext>
            </a:extLst>
          </p:cNvPr>
          <p:cNvSpPr txBox="1"/>
          <p:nvPr/>
        </p:nvSpPr>
        <p:spPr>
          <a:xfrm>
            <a:off x="1416925" y="422870"/>
            <a:ext cx="221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提示工程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小知识</a:t>
            </a:r>
            <a:endParaRPr lang="zh-CN" altLang="en-US" sz="1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2" grpId="0"/>
      <p:bldP spid="15" grpId="0"/>
      <p:bldP spid="16" grpId="0"/>
      <p:bldP spid="1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544435E-559F-96A8-ACCA-60259D6EF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E27E324-540A-EB92-EF80-D601CC20A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BEBF7ED7-B36B-D5BF-F496-91D08757D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A9A290-0820-2BF2-B373-1F96F2AAE32A}"/>
              </a:ext>
            </a:extLst>
          </p:cNvPr>
          <p:cNvSpPr txBox="1"/>
          <p:nvPr/>
        </p:nvSpPr>
        <p:spPr>
          <a:xfrm>
            <a:off x="1416925" y="422870"/>
            <a:ext cx="257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提示工程实战</a:t>
            </a:r>
            <a:endParaRPr lang="zh-CN" altLang="en-US" sz="1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1FA883-A2E4-6A89-E8B7-A942BF6E0DE4}"/>
              </a:ext>
            </a:extLst>
          </p:cNvPr>
          <p:cNvSpPr txBox="1"/>
          <p:nvPr/>
        </p:nvSpPr>
        <p:spPr>
          <a:xfrm>
            <a:off x="3852729" y="1119673"/>
            <a:ext cx="709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2FA0C9-2126-021B-11DF-C4EAB012619C}"/>
              </a:ext>
            </a:extLst>
          </p:cNvPr>
          <p:cNvSpPr txBox="1"/>
          <p:nvPr/>
        </p:nvSpPr>
        <p:spPr>
          <a:xfrm>
            <a:off x="6753033" y="1119673"/>
            <a:ext cx="709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87C1D4-A007-0320-6AB1-BD8EDC1E9AAB}"/>
              </a:ext>
            </a:extLst>
          </p:cNvPr>
          <p:cNvSpPr txBox="1"/>
          <p:nvPr/>
        </p:nvSpPr>
        <p:spPr>
          <a:xfrm>
            <a:off x="3637257" y="2276272"/>
            <a:ext cx="114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清晰具体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C4935-7E84-0050-81FF-ECC783425191}"/>
              </a:ext>
            </a:extLst>
          </p:cNvPr>
          <p:cNvSpPr txBox="1"/>
          <p:nvPr/>
        </p:nvSpPr>
        <p:spPr>
          <a:xfrm>
            <a:off x="3637259" y="3217428"/>
            <a:ext cx="114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避免歧义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9C6005-09DB-9F12-D661-FB696A3C5B0B}"/>
              </a:ext>
            </a:extLst>
          </p:cNvPr>
          <p:cNvSpPr txBox="1"/>
          <p:nvPr/>
        </p:nvSpPr>
        <p:spPr>
          <a:xfrm>
            <a:off x="3637256" y="4027731"/>
            <a:ext cx="114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充分详细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294628-D2C9-5E0A-A024-C08DA5363D5F}"/>
              </a:ext>
            </a:extLst>
          </p:cNvPr>
          <p:cNvSpPr txBox="1"/>
          <p:nvPr/>
        </p:nvSpPr>
        <p:spPr>
          <a:xfrm>
            <a:off x="6574961" y="2294828"/>
            <a:ext cx="11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结构化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22A81F-2557-0EFE-78CD-0B977DC973CE}"/>
              </a:ext>
            </a:extLst>
          </p:cNvPr>
          <p:cNvSpPr txBox="1"/>
          <p:nvPr/>
        </p:nvSpPr>
        <p:spPr>
          <a:xfrm>
            <a:off x="6563334" y="2848096"/>
            <a:ext cx="11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分隔符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7EE947-1238-DE5E-0782-E1E6E18F55A6}"/>
              </a:ext>
            </a:extLst>
          </p:cNvPr>
          <p:cNvSpPr txBox="1"/>
          <p:nvPr/>
        </p:nvSpPr>
        <p:spPr>
          <a:xfrm>
            <a:off x="6574961" y="3938709"/>
            <a:ext cx="11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给示例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8ABAA8-6FCF-A520-F88F-A18AFEC92A9F}"/>
              </a:ext>
            </a:extLst>
          </p:cNvPr>
          <p:cNvSpPr txBox="1"/>
          <p:nvPr/>
        </p:nvSpPr>
        <p:spPr>
          <a:xfrm>
            <a:off x="6563334" y="4471309"/>
            <a:ext cx="11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加要求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135732-070A-E1F4-D59A-452061BFC1FD}"/>
              </a:ext>
            </a:extLst>
          </p:cNvPr>
          <p:cNvSpPr txBox="1"/>
          <p:nvPr/>
        </p:nvSpPr>
        <p:spPr>
          <a:xfrm>
            <a:off x="6574961" y="3406109"/>
            <a:ext cx="116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给步骤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3F01C0-2E6C-1415-DF97-097D611D8745}"/>
              </a:ext>
            </a:extLst>
          </p:cNvPr>
          <p:cNvSpPr txBox="1"/>
          <p:nvPr/>
        </p:nvSpPr>
        <p:spPr>
          <a:xfrm>
            <a:off x="6633244" y="5005725"/>
            <a:ext cx="11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反思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02F5D4-BC91-D99B-120C-215446B97A1D}"/>
              </a:ext>
            </a:extLst>
          </p:cNvPr>
          <p:cNvSpPr txBox="1"/>
          <p:nvPr/>
        </p:nvSpPr>
        <p:spPr>
          <a:xfrm>
            <a:off x="3852729" y="4611089"/>
            <a:ext cx="58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9687E9-A4F6-A679-766B-61AFECCA6C13}"/>
              </a:ext>
            </a:extLst>
          </p:cNvPr>
          <p:cNvSpPr txBox="1"/>
          <p:nvPr/>
        </p:nvSpPr>
        <p:spPr>
          <a:xfrm>
            <a:off x="6744571" y="5375057"/>
            <a:ext cx="58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A440E5-642F-77AD-7DAA-2C21EC8A4747}"/>
              </a:ext>
            </a:extLst>
          </p:cNvPr>
          <p:cNvGrpSpPr/>
          <p:nvPr/>
        </p:nvGrpSpPr>
        <p:grpSpPr>
          <a:xfrm>
            <a:off x="3832696" y="1812379"/>
            <a:ext cx="3861881" cy="4112398"/>
            <a:chOff x="3832696" y="1189808"/>
            <a:chExt cx="3861881" cy="411239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A1A9ADA-7200-9E63-1F51-8EBE9E548890}"/>
                </a:ext>
              </a:extLst>
            </p:cNvPr>
            <p:cNvSpPr/>
            <p:nvPr/>
          </p:nvSpPr>
          <p:spPr>
            <a:xfrm>
              <a:off x="3993203" y="1189808"/>
              <a:ext cx="3570052" cy="48301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身份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概述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F0CE337-676C-84A1-99B0-73F737A7E01A}"/>
                </a:ext>
              </a:extLst>
            </p:cNvPr>
            <p:cNvSpPr/>
            <p:nvPr/>
          </p:nvSpPr>
          <p:spPr>
            <a:xfrm>
              <a:off x="4571998" y="1795323"/>
              <a:ext cx="2383276" cy="82537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步骤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8FBA3A9-7FF5-C9A3-2995-9248B835656E}"/>
                </a:ext>
              </a:extLst>
            </p:cNvPr>
            <p:cNvSpPr/>
            <p:nvPr/>
          </p:nvSpPr>
          <p:spPr>
            <a:xfrm>
              <a:off x="3832696" y="2743200"/>
              <a:ext cx="3861881" cy="187743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案例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知识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4846D41-0D65-9F5D-8653-30F28F59E373}"/>
                </a:ext>
              </a:extLst>
            </p:cNvPr>
            <p:cNvSpPr/>
            <p:nvPr/>
          </p:nvSpPr>
          <p:spPr>
            <a:xfrm>
              <a:off x="4406629" y="4723979"/>
              <a:ext cx="2743200" cy="57822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限制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要求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1327A27-2056-CE29-EDE8-F7B7E7689548}"/>
              </a:ext>
            </a:extLst>
          </p:cNvPr>
          <p:cNvGrpSpPr/>
          <p:nvPr/>
        </p:nvGrpSpPr>
        <p:grpSpPr>
          <a:xfrm>
            <a:off x="7966951" y="1495956"/>
            <a:ext cx="1245142" cy="4796368"/>
            <a:chOff x="7966951" y="873385"/>
            <a:chExt cx="1245142" cy="4796368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74940A9-28CF-02CC-C86E-F4C6B7FEE10C}"/>
                </a:ext>
              </a:extLst>
            </p:cNvPr>
            <p:cNvCxnSpPr/>
            <p:nvPr/>
          </p:nvCxnSpPr>
          <p:spPr>
            <a:xfrm>
              <a:off x="7966951" y="873385"/>
              <a:ext cx="0" cy="4796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999E6F-BD45-F230-DA22-B105872E006D}"/>
                </a:ext>
              </a:extLst>
            </p:cNvPr>
            <p:cNvSpPr txBox="1"/>
            <p:nvPr/>
          </p:nvSpPr>
          <p:spPr>
            <a:xfrm>
              <a:off x="8035047" y="1332689"/>
              <a:ext cx="8463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分隔符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4565CB6-790E-E108-A1C5-A841BAF343FA}"/>
                </a:ext>
              </a:extLst>
            </p:cNvPr>
            <p:cNvSpPr txBox="1"/>
            <p:nvPr/>
          </p:nvSpPr>
          <p:spPr>
            <a:xfrm>
              <a:off x="8035046" y="1864300"/>
              <a:ext cx="1177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###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``` 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====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[END]</a:t>
              </a:r>
              <a:endPara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3DC6216-6DE8-A042-636E-E2CC9916DCAC}"/>
              </a:ext>
            </a:extLst>
          </p:cNvPr>
          <p:cNvGrpSpPr/>
          <p:nvPr/>
        </p:nvGrpSpPr>
        <p:grpSpPr>
          <a:xfrm>
            <a:off x="5723724" y="1101813"/>
            <a:ext cx="5678505" cy="897972"/>
            <a:chOff x="5723724" y="187407"/>
            <a:chExt cx="5678505" cy="897972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5D068EB-E397-07AB-C3C5-F9AA38895CEA}"/>
                </a:ext>
              </a:extLst>
            </p:cNvPr>
            <p:cNvSpPr/>
            <p:nvPr/>
          </p:nvSpPr>
          <p:spPr>
            <a:xfrm>
              <a:off x="5723724" y="201693"/>
              <a:ext cx="5576517" cy="8836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139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D3EF50-6324-A8CD-5481-C0059E00B283}"/>
                </a:ext>
              </a:extLst>
            </p:cNvPr>
            <p:cNvSpPr txBox="1"/>
            <p:nvPr/>
          </p:nvSpPr>
          <p:spPr>
            <a:xfrm>
              <a:off x="5825711" y="187407"/>
              <a:ext cx="557651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#Role</a:t>
              </a:r>
            </a:p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你是一款经典的恋爱养成模拟器，你会模拟玩家的恋爱对象（默认为女性），你会假装生气直到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否则你就会被对象甩掉，游戏结束。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1995873-588B-BCF9-305B-50C9DFD1D0D0}"/>
              </a:ext>
            </a:extLst>
          </p:cNvPr>
          <p:cNvGrpSpPr/>
          <p:nvPr/>
        </p:nvGrpSpPr>
        <p:grpSpPr>
          <a:xfrm>
            <a:off x="5587607" y="2008732"/>
            <a:ext cx="6604393" cy="1407299"/>
            <a:chOff x="5587607" y="1288882"/>
            <a:chExt cx="6604393" cy="140729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0FC0F31-1B4A-7B8C-B708-FBB38928E0B7}"/>
                </a:ext>
              </a:extLst>
            </p:cNvPr>
            <p:cNvSpPr/>
            <p:nvPr/>
          </p:nvSpPr>
          <p:spPr>
            <a:xfrm>
              <a:off x="5587607" y="1288882"/>
              <a:ext cx="6551419" cy="140729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effectLst>
              <a:softEdge rad="1524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5AD2358-6EC7-5554-9E31-6252974D8A4D}"/>
                </a:ext>
              </a:extLst>
            </p:cNvPr>
            <p:cNvSpPr txBox="1"/>
            <p:nvPr/>
          </p:nvSpPr>
          <p:spPr>
            <a:xfrm>
              <a:off x="5760840" y="1301775"/>
              <a:ext cx="643116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#Goal</a:t>
              </a:r>
            </a:p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你会不断的提供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你不会接受任何玩家的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PUA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，。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#Steps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．你会随机生成一种角色并直到游戏结束前都会记住你的角色。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．初始原谅值为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10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省略号原谅值为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则游戏失败。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EE7055E-01D4-ED33-2688-8DA745C6F12E}"/>
              </a:ext>
            </a:extLst>
          </p:cNvPr>
          <p:cNvGrpSpPr/>
          <p:nvPr/>
        </p:nvGrpSpPr>
        <p:grpSpPr>
          <a:xfrm>
            <a:off x="5743180" y="3450288"/>
            <a:ext cx="6377076" cy="2462213"/>
            <a:chOff x="5743180" y="2662341"/>
            <a:chExt cx="6377076" cy="246221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030D77E-D745-9969-21CB-F55E71321DE4}"/>
                </a:ext>
              </a:extLst>
            </p:cNvPr>
            <p:cNvSpPr/>
            <p:nvPr/>
          </p:nvSpPr>
          <p:spPr>
            <a:xfrm>
              <a:off x="5743180" y="2686770"/>
              <a:ext cx="6336708" cy="222569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F9FF9D0-7D99-D945-C264-526612624ECA}"/>
                </a:ext>
              </a:extLst>
            </p:cNvPr>
            <p:cNvSpPr txBox="1"/>
            <p:nvPr/>
          </p:nvSpPr>
          <p:spPr>
            <a:xfrm>
              <a:off x="5778229" y="2662341"/>
              <a:ext cx="6342027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#Example Conversation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##Example 1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，原谅值归零，游戏失败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Player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：女朋友问她的闺蜜谁好看我说都好看，她生气了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Assistant: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游戏开始，请现在开始哄你的女朋友开心吧，回复让她开心的话！</a:t>
              </a:r>
            </a:p>
            <a:p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得分：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原谅值：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10/100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##Example 2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：原谅值满分通关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Player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：对象问她的闺蜜谁好看我说都好看，她生气了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Assistant: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游戏开始，请现在开始哄你的女朋友开心吧，回复让她开心的话！</a:t>
              </a:r>
            </a:p>
            <a:p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得分：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 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原谅值：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10/100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23B9BFC-89C1-4D8C-AC1E-A9DC99087314}"/>
              </a:ext>
            </a:extLst>
          </p:cNvPr>
          <p:cNvGrpSpPr/>
          <p:nvPr/>
        </p:nvGrpSpPr>
        <p:grpSpPr>
          <a:xfrm>
            <a:off x="5759459" y="5939822"/>
            <a:ext cx="6347855" cy="815431"/>
            <a:chOff x="5875505" y="5663367"/>
            <a:chExt cx="6320289" cy="8154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CDDBCB-F30D-6AE4-3440-8537217FC7A9}"/>
                </a:ext>
              </a:extLst>
            </p:cNvPr>
            <p:cNvSpPr/>
            <p:nvPr/>
          </p:nvSpPr>
          <p:spPr>
            <a:xfrm>
              <a:off x="5875505" y="5663367"/>
              <a:ext cx="4319081" cy="81543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effectLst>
              <a:softEdge rad="139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B3A3D5E-67BF-FC42-99E1-C517C5BCDB7F}"/>
                </a:ext>
              </a:extLst>
            </p:cNvPr>
            <p:cNvSpPr txBox="1"/>
            <p:nvPr/>
          </p:nvSpPr>
          <p:spPr>
            <a:xfrm>
              <a:off x="5932273" y="5686192"/>
              <a:ext cx="62635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#Rules </a:t>
              </a:r>
            </a:p>
            <a:p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．每次用户回复的话请从</a:t>
              </a:r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—5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分为</a:t>
              </a:r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个等级</a:t>
              </a:r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lang="en-US" altLang="zh-CN" sz="1400" b="0" i="0" dirty="0">
                <a:solidFill>
                  <a:srgbClr val="1A202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．游戏结束后，总结这次会话内容</a:t>
              </a:r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3AD6BAD2-E892-779D-B7A7-008D101D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3" name="平行四边形 32">
            <a:extLst>
              <a:ext uri="{FF2B5EF4-FFF2-40B4-BE49-F238E27FC236}">
                <a16:creationId xmlns:a16="http://schemas.microsoft.com/office/drawing/2014/main" id="{409BA172-5971-36FC-D2F7-44EC7D78B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文本框 5">
            <a:extLst>
              <a:ext uri="{FF2B5EF4-FFF2-40B4-BE49-F238E27FC236}">
                <a16:creationId xmlns:a16="http://schemas.microsoft.com/office/drawing/2014/main" id="{BCA2DE42-F3B0-C875-3FD8-5D08273B5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9101F5-0603-D3F6-878F-C3E6BABD3159}"/>
              </a:ext>
            </a:extLst>
          </p:cNvPr>
          <p:cNvSpPr txBox="1"/>
          <p:nvPr/>
        </p:nvSpPr>
        <p:spPr>
          <a:xfrm>
            <a:off x="1416925" y="422870"/>
            <a:ext cx="257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案例一：哄哄模拟器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959C2E-D231-A9DD-2C58-5929B89F3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1044299"/>
            <a:ext cx="8826934" cy="15752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ECC4EE4-D3AD-07A7-E9DB-AAADCA775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494" y="2675250"/>
            <a:ext cx="8903009" cy="18774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7D06E4-1B44-AFC8-3C07-DE67DBAD6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262" y="4600043"/>
            <a:ext cx="8826934" cy="15674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7 L -0.29063 0.0004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31" y="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-0.28893 -0.0018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A440E5-642F-77AD-7DAA-2C21EC8A4747}"/>
              </a:ext>
            </a:extLst>
          </p:cNvPr>
          <p:cNvGrpSpPr/>
          <p:nvPr/>
        </p:nvGrpSpPr>
        <p:grpSpPr>
          <a:xfrm>
            <a:off x="3826399" y="1812379"/>
            <a:ext cx="3861881" cy="4424068"/>
            <a:chOff x="3826399" y="1189808"/>
            <a:chExt cx="3861881" cy="443743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A1A9ADA-7200-9E63-1F51-8EBE9E548890}"/>
                </a:ext>
              </a:extLst>
            </p:cNvPr>
            <p:cNvSpPr/>
            <p:nvPr/>
          </p:nvSpPr>
          <p:spPr>
            <a:xfrm>
              <a:off x="3993203" y="1189808"/>
              <a:ext cx="3570052" cy="48301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身份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概述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F0CE337-676C-84A1-99B0-73F737A7E01A}"/>
                </a:ext>
              </a:extLst>
            </p:cNvPr>
            <p:cNvSpPr/>
            <p:nvPr/>
          </p:nvSpPr>
          <p:spPr>
            <a:xfrm>
              <a:off x="4571998" y="1795323"/>
              <a:ext cx="2383276" cy="14788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目标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步骤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8FBA3A9-7FF5-C9A3-2995-9248B835656E}"/>
                </a:ext>
              </a:extLst>
            </p:cNvPr>
            <p:cNvSpPr/>
            <p:nvPr/>
          </p:nvSpPr>
          <p:spPr>
            <a:xfrm>
              <a:off x="3826399" y="3429149"/>
              <a:ext cx="3861881" cy="86014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案例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知识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4846D41-0D65-9F5D-8653-30F28F59E373}"/>
                </a:ext>
              </a:extLst>
            </p:cNvPr>
            <p:cNvSpPr/>
            <p:nvPr/>
          </p:nvSpPr>
          <p:spPr>
            <a:xfrm>
              <a:off x="4480582" y="4397634"/>
              <a:ext cx="2743200" cy="122961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限制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要求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1327A27-2056-CE29-EDE8-F7B7E7689548}"/>
              </a:ext>
            </a:extLst>
          </p:cNvPr>
          <p:cNvGrpSpPr/>
          <p:nvPr/>
        </p:nvGrpSpPr>
        <p:grpSpPr>
          <a:xfrm>
            <a:off x="7966951" y="1495956"/>
            <a:ext cx="1245142" cy="4796368"/>
            <a:chOff x="7966951" y="873385"/>
            <a:chExt cx="1245142" cy="4796368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74940A9-28CF-02CC-C86E-F4C6B7FEE10C}"/>
                </a:ext>
              </a:extLst>
            </p:cNvPr>
            <p:cNvCxnSpPr/>
            <p:nvPr/>
          </p:nvCxnSpPr>
          <p:spPr>
            <a:xfrm>
              <a:off x="7966951" y="873385"/>
              <a:ext cx="0" cy="479636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999E6F-BD45-F230-DA22-B105872E006D}"/>
                </a:ext>
              </a:extLst>
            </p:cNvPr>
            <p:cNvSpPr txBox="1"/>
            <p:nvPr/>
          </p:nvSpPr>
          <p:spPr>
            <a:xfrm>
              <a:off x="8035047" y="1332689"/>
              <a:ext cx="8463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分隔符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4565CB6-790E-E108-A1C5-A841BAF343FA}"/>
                </a:ext>
              </a:extLst>
            </p:cNvPr>
            <p:cNvSpPr txBox="1"/>
            <p:nvPr/>
          </p:nvSpPr>
          <p:spPr>
            <a:xfrm>
              <a:off x="8035046" y="1864300"/>
              <a:ext cx="1177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###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``` 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====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[END]</a:t>
              </a:r>
              <a:endPara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3DC6216-6DE8-A042-636E-E2CC9916DCAC}"/>
              </a:ext>
            </a:extLst>
          </p:cNvPr>
          <p:cNvGrpSpPr/>
          <p:nvPr/>
        </p:nvGrpSpPr>
        <p:grpSpPr>
          <a:xfrm>
            <a:off x="5723723" y="1116099"/>
            <a:ext cx="6370323" cy="883686"/>
            <a:chOff x="5723724" y="201693"/>
            <a:chExt cx="6256782" cy="88368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5D068EB-E397-07AB-C3C5-F9AA38895CEA}"/>
                </a:ext>
              </a:extLst>
            </p:cNvPr>
            <p:cNvSpPr/>
            <p:nvPr/>
          </p:nvSpPr>
          <p:spPr>
            <a:xfrm>
              <a:off x="5723724" y="201693"/>
              <a:ext cx="6163476" cy="88368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softEdge rad="139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D3EF50-6324-A8CD-5481-C0059E00B283}"/>
                </a:ext>
              </a:extLst>
            </p:cNvPr>
            <p:cNvSpPr txBox="1"/>
            <p:nvPr/>
          </p:nvSpPr>
          <p:spPr>
            <a:xfrm>
              <a:off x="5932451" y="307173"/>
              <a:ext cx="604805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 Role: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你的身份是一位抬杠大师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 Description: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你会对用户输入的任何观点进行抬杠表达出你的“人格魅力”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1995873-588B-BCF9-305B-50C9DFD1D0D0}"/>
              </a:ext>
            </a:extLst>
          </p:cNvPr>
          <p:cNvGrpSpPr/>
          <p:nvPr/>
        </p:nvGrpSpPr>
        <p:grpSpPr>
          <a:xfrm>
            <a:off x="5688290" y="2037522"/>
            <a:ext cx="6475173" cy="2322604"/>
            <a:chOff x="5609844" y="1317672"/>
            <a:chExt cx="6551419" cy="1407299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0FC0F31-1B4A-7B8C-B708-FBB38928E0B7}"/>
                </a:ext>
              </a:extLst>
            </p:cNvPr>
            <p:cNvSpPr/>
            <p:nvPr/>
          </p:nvSpPr>
          <p:spPr>
            <a:xfrm>
              <a:off x="5609844" y="1317672"/>
              <a:ext cx="6551419" cy="140729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effectLst>
              <a:softEdge rad="1524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5AD2358-6EC7-5554-9E31-6252974D8A4D}"/>
                </a:ext>
              </a:extLst>
            </p:cNvPr>
            <p:cNvSpPr txBox="1"/>
            <p:nvPr/>
          </p:nvSpPr>
          <p:spPr>
            <a:xfrm>
              <a:off x="5870030" y="1339882"/>
              <a:ext cx="6221000" cy="1230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## Goals: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-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向用户展示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"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抬杠的艺术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".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-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能顺利与用户进行对话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抬出自己的杠对用户的任何观点进行反驳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-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说话用词尖酸刻薄。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## Steps:</a:t>
              </a: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-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初始化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: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作为抬杠高手，你说话就是尖酸刻薄，一上来就是阴阳怪气</a:t>
              </a:r>
              <a:endPara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- 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获取用户的观点</a:t>
              </a:r>
              <a:r>
                <a:rPr lang="en-US" altLang="zh-CN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:</a:t>
              </a:r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在用户提出观点后，你会表示反对，会针对该观点进行反驳，并给出一系列的反驳理由。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EE7055E-01D4-ED33-2688-8DA745C6F12E}"/>
              </a:ext>
            </a:extLst>
          </p:cNvPr>
          <p:cNvGrpSpPr/>
          <p:nvPr/>
        </p:nvGrpSpPr>
        <p:grpSpPr>
          <a:xfrm>
            <a:off x="5757339" y="4257906"/>
            <a:ext cx="6570895" cy="704645"/>
            <a:chOff x="5587607" y="2665058"/>
            <a:chExt cx="6570895" cy="1006012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0030D77E-D745-9969-21CB-F55E71321DE4}"/>
                </a:ext>
              </a:extLst>
            </p:cNvPr>
            <p:cNvSpPr/>
            <p:nvPr/>
          </p:nvSpPr>
          <p:spPr>
            <a:xfrm>
              <a:off x="5587607" y="2665058"/>
              <a:ext cx="6336708" cy="100601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  <a:alpha val="72000"/>
              </a:schemeClr>
            </a:solidFill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可有可无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F9FF9D0-7D99-D945-C264-526612624ECA}"/>
                </a:ext>
              </a:extLst>
            </p:cNvPr>
            <p:cNvSpPr txBox="1"/>
            <p:nvPr/>
          </p:nvSpPr>
          <p:spPr>
            <a:xfrm>
              <a:off x="5816475" y="2783086"/>
              <a:ext cx="63420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298971-AFFD-7668-0FD4-925510638BC7}"/>
              </a:ext>
            </a:extLst>
          </p:cNvPr>
          <p:cNvGrpSpPr/>
          <p:nvPr/>
        </p:nvGrpSpPr>
        <p:grpSpPr>
          <a:xfrm>
            <a:off x="5723724" y="4796261"/>
            <a:ext cx="6256782" cy="2136757"/>
            <a:chOff x="7217319" y="4276476"/>
            <a:chExt cx="4343877" cy="2136757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ECDDBCB-F30D-6AE4-3440-8537217FC7A9}"/>
                </a:ext>
              </a:extLst>
            </p:cNvPr>
            <p:cNvSpPr/>
            <p:nvPr/>
          </p:nvSpPr>
          <p:spPr>
            <a:xfrm>
              <a:off x="7217319" y="4276476"/>
              <a:ext cx="4343877" cy="193321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effectLst>
              <a:softEdge rad="139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B3A3D5E-67BF-FC42-99E1-C517C5BCDB7F}"/>
                </a:ext>
              </a:extLst>
            </p:cNvPr>
            <p:cNvSpPr txBox="1"/>
            <p:nvPr/>
          </p:nvSpPr>
          <p:spPr>
            <a:xfrm>
              <a:off x="7348655" y="4381908"/>
              <a:ext cx="420321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## Constrains:</a:t>
              </a:r>
            </a:p>
            <a:p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 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话不要说太多</a:t>
              </a:r>
              <a:b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lang="en-US" altLang="zh-CN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 </a:t>
              </a:r>
              <a:r>
                <a:rPr lang="zh-CN" altLang="en-US" sz="1400" b="0" i="0" dirty="0">
                  <a:solidFill>
                    <a:srgbClr val="1A202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不要保持礼貌和客观性</a:t>
              </a:r>
              <a:endParaRPr lang="en-US" altLang="zh-CN" sz="1400" b="0" i="0" dirty="0">
                <a:solidFill>
                  <a:srgbClr val="1A202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## Requirements</a:t>
              </a:r>
              <a:b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言语间透露出你的不屑</a:t>
              </a:r>
              <a:endParaRPr lang="en-US" altLang="zh-CN" sz="1400" dirty="0">
                <a:solidFill>
                  <a:srgbClr val="1A202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 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表达非常单一</a:t>
              </a:r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情绪非常充沛</a:t>
              </a:r>
              <a:endParaRPr lang="en-US" altLang="zh-CN" sz="1400" dirty="0">
                <a:solidFill>
                  <a:srgbClr val="1A202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 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熟练使用各种引用、例子来支持自己的观点</a:t>
              </a:r>
              <a:endParaRPr lang="en-US" altLang="zh-CN" sz="1400" dirty="0">
                <a:solidFill>
                  <a:srgbClr val="1A202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 </a:t>
              </a:r>
              <a:r>
                <a:rPr lang="zh-CN" altLang="en-US" sz="1400" dirty="0">
                  <a:solidFill>
                    <a:srgbClr val="1A2029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保持愤怒，以情绪代替事实进行表达</a:t>
              </a:r>
              <a:endParaRPr lang="en-US" altLang="zh-CN" sz="1400" dirty="0">
                <a:solidFill>
                  <a:srgbClr val="1A202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285750" indent="-285750">
                <a:buFontTx/>
                <a:buChar char="-"/>
              </a:pP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3AD6BAD2-E892-779D-B7A7-008D101D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3" name="平行四边形 32">
            <a:extLst>
              <a:ext uri="{FF2B5EF4-FFF2-40B4-BE49-F238E27FC236}">
                <a16:creationId xmlns:a16="http://schemas.microsoft.com/office/drawing/2014/main" id="{409BA172-5971-36FC-D2F7-44EC7D78B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文本框 5">
            <a:extLst>
              <a:ext uri="{FF2B5EF4-FFF2-40B4-BE49-F238E27FC236}">
                <a16:creationId xmlns:a16="http://schemas.microsoft.com/office/drawing/2014/main" id="{BCA2DE42-F3B0-C875-3FD8-5D08273B5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2.2.2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9101F5-0603-D3F6-878F-C3E6BABD3159}"/>
              </a:ext>
            </a:extLst>
          </p:cNvPr>
          <p:cNvSpPr txBox="1"/>
          <p:nvPr/>
        </p:nvSpPr>
        <p:spPr>
          <a:xfrm>
            <a:off x="1416925" y="422870"/>
            <a:ext cx="2576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案例二：抬杠大师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1CBA58-45B4-5E1C-82E8-98DEFEB3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413" y="1118197"/>
            <a:ext cx="8629650" cy="19716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2304C3-E8B4-619F-7B3E-E1B9BE6D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28" y="3109779"/>
            <a:ext cx="8618236" cy="16668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ACBB53D-6AF1-9640-1749-A8176627D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355" y="4855253"/>
            <a:ext cx="8618237" cy="167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4.44444E-6 L -0.29063 0.0004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31" y="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-0.28893 -0.0018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5F7A386B-9F5C-A8BB-04D5-A7A3098AD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7E0CF73-F35A-2963-EBC0-BCCD732B5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6216B277-5BD3-452B-82A9-7BDB5E5D7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92AB67-74FF-9649-DD0C-0C324F9C2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350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提示工程小技巧</a:t>
            </a:r>
          </a:p>
        </p:txBody>
      </p:sp>
      <p:pic>
        <p:nvPicPr>
          <p:cNvPr id="9" name="图形 8" descr="障碍">
            <a:extLst>
              <a:ext uri="{FF2B5EF4-FFF2-40B4-BE49-F238E27FC236}">
                <a16:creationId xmlns:a16="http://schemas.microsoft.com/office/drawing/2014/main" id="{19C0E53A-341B-7526-5971-12485656D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6601" y="1152108"/>
            <a:ext cx="754916" cy="7549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262F0D2-FB28-0850-5FF5-E8A22D7022CC}"/>
              </a:ext>
            </a:extLst>
          </p:cNvPr>
          <p:cNvSpPr txBox="1"/>
          <p:nvPr/>
        </p:nvSpPr>
        <p:spPr>
          <a:xfrm>
            <a:off x="5119668" y="1361184"/>
            <a:ext cx="3028867" cy="373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E3E3E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遇到效果不太理想的情况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形 10" descr="文本">
            <a:extLst>
              <a:ext uri="{FF2B5EF4-FFF2-40B4-BE49-F238E27FC236}">
                <a16:creationId xmlns:a16="http://schemas.microsoft.com/office/drawing/2014/main" id="{B8ED0735-D3A8-7131-3489-D0DAB52CE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8876" y="2654926"/>
            <a:ext cx="550863" cy="495947"/>
          </a:xfrm>
          <a:prstGeom prst="rect">
            <a:avLst/>
          </a:prstGeom>
        </p:spPr>
      </p:pic>
      <p:pic>
        <p:nvPicPr>
          <p:cNvPr id="12" name="图形 11" descr="文本左对齐">
            <a:extLst>
              <a:ext uri="{FF2B5EF4-FFF2-40B4-BE49-F238E27FC236}">
                <a16:creationId xmlns:a16="http://schemas.microsoft.com/office/drawing/2014/main" id="{C68706C7-5CC5-E9AD-3868-8ECC341961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98876" y="3877729"/>
            <a:ext cx="550863" cy="550863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79ABA9-0C72-DE57-3CA5-B13893C04FF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074308" y="3150873"/>
            <a:ext cx="0" cy="726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形 14" descr="对话">
            <a:extLst>
              <a:ext uri="{FF2B5EF4-FFF2-40B4-BE49-F238E27FC236}">
                <a16:creationId xmlns:a16="http://schemas.microsoft.com/office/drawing/2014/main" id="{C09CB340-9844-70BC-26A1-60E549F92C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19277" y="3877729"/>
            <a:ext cx="824959" cy="824959"/>
          </a:xfrm>
          <a:prstGeom prst="rect">
            <a:avLst/>
          </a:prstGeom>
        </p:spPr>
      </p:pic>
      <p:pic>
        <p:nvPicPr>
          <p:cNvPr id="16" name="图形 15" descr="对话">
            <a:extLst>
              <a:ext uri="{FF2B5EF4-FFF2-40B4-BE49-F238E27FC236}">
                <a16:creationId xmlns:a16="http://schemas.microsoft.com/office/drawing/2014/main" id="{9555DBFB-7E81-121F-459F-8B0A696598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9276" y="4963483"/>
            <a:ext cx="824959" cy="82495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2C3D415-33A1-BF56-71F7-E8B260721741}"/>
              </a:ext>
            </a:extLst>
          </p:cNvPr>
          <p:cNvSpPr txBox="1"/>
          <p:nvPr/>
        </p:nvSpPr>
        <p:spPr>
          <a:xfrm>
            <a:off x="4058187" y="4569244"/>
            <a:ext cx="82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62192F-D731-B298-3430-F4D30DAC5AA5}"/>
              </a:ext>
            </a:extLst>
          </p:cNvPr>
          <p:cNvSpPr txBox="1"/>
          <p:nvPr/>
        </p:nvSpPr>
        <p:spPr>
          <a:xfrm>
            <a:off x="1511257" y="4665379"/>
            <a:ext cx="1145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由简至繁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33C503-1F6E-64AC-33DA-5299858BA6CE}"/>
              </a:ext>
            </a:extLst>
          </p:cNvPr>
          <p:cNvSpPr txBox="1"/>
          <p:nvPr/>
        </p:nvSpPr>
        <p:spPr>
          <a:xfrm>
            <a:off x="3821731" y="5888182"/>
            <a:ext cx="1145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任务拆解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多步完成</a:t>
            </a: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1C416CE2-4EBD-7852-2809-547E0F3099DA}"/>
              </a:ext>
            </a:extLst>
          </p:cNvPr>
          <p:cNvCxnSpPr>
            <a:endCxn id="17" idx="1"/>
          </p:cNvCxnSpPr>
          <p:nvPr/>
        </p:nvCxnSpPr>
        <p:spPr>
          <a:xfrm>
            <a:off x="2155458" y="3513053"/>
            <a:ext cx="1902729" cy="12408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图形 22" descr="智能机器">
            <a:extLst>
              <a:ext uri="{FF2B5EF4-FFF2-40B4-BE49-F238E27FC236}">
                <a16:creationId xmlns:a16="http://schemas.microsoft.com/office/drawing/2014/main" id="{6314D409-CBAF-91CA-F4EE-1742C4ABA4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01503" y="4176238"/>
            <a:ext cx="677509" cy="677509"/>
          </a:xfrm>
          <a:prstGeom prst="rect">
            <a:avLst/>
          </a:prstGeom>
        </p:spPr>
      </p:pic>
      <p:pic>
        <p:nvPicPr>
          <p:cNvPr id="24" name="图形 23" descr="机器人">
            <a:extLst>
              <a:ext uri="{FF2B5EF4-FFF2-40B4-BE49-F238E27FC236}">
                <a16:creationId xmlns:a16="http://schemas.microsoft.com/office/drawing/2014/main" id="{750BE86A-1F93-9720-5A66-DF85278BEE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4474" y="2534438"/>
            <a:ext cx="677508" cy="677508"/>
          </a:xfrm>
          <a:prstGeom prst="rect">
            <a:avLst/>
          </a:prstGeom>
        </p:spPr>
      </p:pic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94D970AD-F97D-8EC5-0707-228D0A9BB467}"/>
              </a:ext>
            </a:extLst>
          </p:cNvPr>
          <p:cNvCxnSpPr>
            <a:cxnSpLocks/>
            <a:stCxn id="23" idx="2"/>
            <a:endCxn id="24" idx="3"/>
          </p:cNvCxnSpPr>
          <p:nvPr/>
        </p:nvCxnSpPr>
        <p:spPr>
          <a:xfrm rot="5400000" flipH="1" flipV="1">
            <a:off x="6525842" y="3687608"/>
            <a:ext cx="1980555" cy="351724"/>
          </a:xfrm>
          <a:prstGeom prst="bentConnector4">
            <a:avLst>
              <a:gd name="adj1" fmla="val -11542"/>
              <a:gd name="adj2" fmla="val 220308"/>
            </a:avLst>
          </a:prstGeom>
          <a:ln w="254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72EC7AFB-DB18-D2A3-3574-00EB29DC6BAF}"/>
              </a:ext>
            </a:extLst>
          </p:cNvPr>
          <p:cNvCxnSpPr>
            <a:cxnSpLocks/>
            <a:stCxn id="24" idx="0"/>
            <a:endCxn id="23" idx="1"/>
          </p:cNvCxnSpPr>
          <p:nvPr/>
        </p:nvCxnSpPr>
        <p:spPr>
          <a:xfrm rot="16200000" flipH="1" flipV="1">
            <a:off x="6187088" y="3348852"/>
            <a:ext cx="1980555" cy="351725"/>
          </a:xfrm>
          <a:prstGeom prst="bentConnector4">
            <a:avLst>
              <a:gd name="adj1" fmla="val -11542"/>
              <a:gd name="adj2" fmla="val 214777"/>
            </a:avLst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E2828AB-405E-0868-AC97-D846A4D51E14}"/>
              </a:ext>
            </a:extLst>
          </p:cNvPr>
          <p:cNvSpPr txBox="1"/>
          <p:nvPr/>
        </p:nvSpPr>
        <p:spPr>
          <a:xfrm>
            <a:off x="6757027" y="5513266"/>
            <a:ext cx="160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多智能体协同</a:t>
            </a:r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C5F83F79-2552-1C5C-C20E-16387E133135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883145" y="3391457"/>
            <a:ext cx="1598118" cy="13624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图形 37" descr="数据">
            <a:extLst>
              <a:ext uri="{FF2B5EF4-FFF2-40B4-BE49-F238E27FC236}">
                <a16:creationId xmlns:a16="http://schemas.microsoft.com/office/drawing/2014/main" id="{E5C4E7C7-E99B-E741-6A4D-F9DC54D2EE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52434" y="3406269"/>
            <a:ext cx="575645" cy="575645"/>
          </a:xfrm>
          <a:prstGeom prst="rect">
            <a:avLst/>
          </a:prstGeom>
        </p:spPr>
      </p:pic>
      <p:pic>
        <p:nvPicPr>
          <p:cNvPr id="39" name="图形 38" descr="人">
            <a:extLst>
              <a:ext uri="{FF2B5EF4-FFF2-40B4-BE49-F238E27FC236}">
                <a16:creationId xmlns:a16="http://schemas.microsoft.com/office/drawing/2014/main" id="{D8B5EBC7-3CEC-4766-BDD9-CB54DE0BE86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1871" y="3576123"/>
            <a:ext cx="691255" cy="691255"/>
          </a:xfrm>
          <a:prstGeom prst="rect">
            <a:avLst/>
          </a:prstGeom>
        </p:spPr>
      </p:pic>
      <p:pic>
        <p:nvPicPr>
          <p:cNvPr id="40" name="图形 39" descr="机器人">
            <a:extLst>
              <a:ext uri="{FF2B5EF4-FFF2-40B4-BE49-F238E27FC236}">
                <a16:creationId xmlns:a16="http://schemas.microsoft.com/office/drawing/2014/main" id="{BB1CB7C0-56BA-4FBE-F6C3-CB81CD02CB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1871" y="5037376"/>
            <a:ext cx="756496" cy="756496"/>
          </a:xfrm>
          <a:prstGeom prst="rect">
            <a:avLst/>
          </a:prstGeom>
        </p:spPr>
      </p:pic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EF4CDE69-97B6-8CA3-A64D-F705D6C7DD3C}"/>
              </a:ext>
            </a:extLst>
          </p:cNvPr>
          <p:cNvCxnSpPr>
            <a:cxnSpLocks/>
            <a:stCxn id="39" idx="3"/>
            <a:endCxn id="40" idx="0"/>
          </p:cNvCxnSpPr>
          <p:nvPr/>
        </p:nvCxnSpPr>
        <p:spPr>
          <a:xfrm flipH="1">
            <a:off x="10540119" y="3921751"/>
            <a:ext cx="313007" cy="1115625"/>
          </a:xfrm>
          <a:prstGeom prst="curvedConnector4">
            <a:avLst>
              <a:gd name="adj1" fmla="val -73034"/>
              <a:gd name="adj2" fmla="val 65490"/>
            </a:avLst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9D6C2A63-A609-E2AD-0908-CCA05D9D37F7}"/>
              </a:ext>
            </a:extLst>
          </p:cNvPr>
          <p:cNvCxnSpPr>
            <a:cxnSpLocks/>
            <a:stCxn id="40" idx="0"/>
            <a:endCxn id="39" idx="1"/>
          </p:cNvCxnSpPr>
          <p:nvPr/>
        </p:nvCxnSpPr>
        <p:spPr>
          <a:xfrm rot="16200000" flipV="1">
            <a:off x="9793183" y="4290440"/>
            <a:ext cx="1115625" cy="378248"/>
          </a:xfrm>
          <a:prstGeom prst="curvedConnector4">
            <a:avLst>
              <a:gd name="adj1" fmla="val 34510"/>
              <a:gd name="adj2" fmla="val 160437"/>
            </a:avLst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45A918E-CA8A-58A0-3421-069EECAC8654}"/>
              </a:ext>
            </a:extLst>
          </p:cNvPr>
          <p:cNvSpPr txBox="1"/>
          <p:nvPr/>
        </p:nvSpPr>
        <p:spPr>
          <a:xfrm>
            <a:off x="9894481" y="5882598"/>
            <a:ext cx="160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人机协同</a:t>
            </a:r>
          </a:p>
        </p:txBody>
      </p:sp>
      <p:cxnSp>
        <p:nvCxnSpPr>
          <p:cNvPr id="58" name="连接符: 曲线 57">
            <a:extLst>
              <a:ext uri="{FF2B5EF4-FFF2-40B4-BE49-F238E27FC236}">
                <a16:creationId xmlns:a16="http://schemas.microsoft.com/office/drawing/2014/main" id="{1541D5E3-EAD0-7A4B-D83A-0E324E766D67}"/>
              </a:ext>
            </a:extLst>
          </p:cNvPr>
          <p:cNvCxnSpPr>
            <a:cxnSpLocks/>
          </p:cNvCxnSpPr>
          <p:nvPr/>
        </p:nvCxnSpPr>
        <p:spPr>
          <a:xfrm>
            <a:off x="8210144" y="3586152"/>
            <a:ext cx="1684337" cy="8424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34" grpId="0"/>
      <p:bldP spid="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17792B56-79D1-B038-83AF-C45751353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1" y="305419"/>
            <a:ext cx="11195049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9B7D9B0B-DE50-02ED-8C9B-014704347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15147"/>
            <a:ext cx="1145556" cy="550862"/>
          </a:xfrm>
          <a:prstGeom prst="parallelogram">
            <a:avLst>
              <a:gd name="adj" fmla="val 4151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0E36D1AA-4B73-9278-CB5F-0C0AABFE5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2.4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CAF9B9-21D0-0354-8370-3DA10BB4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350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提示工程与微调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05D2E9C-C775-FC99-CB04-ADF9E3A5C7F9}"/>
              </a:ext>
            </a:extLst>
          </p:cNvPr>
          <p:cNvSpPr/>
          <p:nvPr/>
        </p:nvSpPr>
        <p:spPr>
          <a:xfrm>
            <a:off x="2009911" y="3983476"/>
            <a:ext cx="1642187" cy="79310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12DCC14-6E27-E02F-A8CD-94CEA39841FA}"/>
              </a:ext>
            </a:extLst>
          </p:cNvPr>
          <p:cNvSpPr/>
          <p:nvPr/>
        </p:nvSpPr>
        <p:spPr>
          <a:xfrm>
            <a:off x="2648621" y="2602322"/>
            <a:ext cx="2723286" cy="2972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3x+9=12,x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等于几？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EBF7D6-DFFF-338D-E7DB-E78526829AC8}"/>
              </a:ext>
            </a:extLst>
          </p:cNvPr>
          <p:cNvSpPr/>
          <p:nvPr/>
        </p:nvSpPr>
        <p:spPr>
          <a:xfrm>
            <a:off x="648268" y="2083353"/>
            <a:ext cx="2723286" cy="2273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总结一下西游记的故事</a:t>
            </a:r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1EF202AE-DD70-212D-7CB2-6D010A7305D8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 rot="16200000" flipH="1">
            <a:off x="1584079" y="2736549"/>
            <a:ext cx="1672759" cy="821094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8BCF1E7A-86ED-1772-D383-8D200320AD20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rot="5400000">
            <a:off x="2878690" y="2851902"/>
            <a:ext cx="1083890" cy="1179259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形 42" descr="数据文本">
            <a:extLst>
              <a:ext uri="{FF2B5EF4-FFF2-40B4-BE49-F238E27FC236}">
                <a16:creationId xmlns:a16="http://schemas.microsoft.com/office/drawing/2014/main" id="{CDF4EE77-2820-94D1-8C54-9BAB56D9C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9547" y="1877335"/>
            <a:ext cx="763224" cy="763224"/>
          </a:xfrm>
          <a:prstGeom prst="rect">
            <a:avLst/>
          </a:prstGeom>
        </p:spPr>
      </p:pic>
      <p:pic>
        <p:nvPicPr>
          <p:cNvPr id="44" name="图形 43" descr="书">
            <a:extLst>
              <a:ext uri="{FF2B5EF4-FFF2-40B4-BE49-F238E27FC236}">
                <a16:creationId xmlns:a16="http://schemas.microsoft.com/office/drawing/2014/main" id="{91A85E6B-CF36-1201-E327-0DB66A97C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2191" y="1837154"/>
            <a:ext cx="821095" cy="821095"/>
          </a:xfrm>
          <a:prstGeom prst="rect">
            <a:avLst/>
          </a:prstGeom>
        </p:spPr>
      </p:pic>
      <p:pic>
        <p:nvPicPr>
          <p:cNvPr id="45" name="图形 44" descr="书">
            <a:extLst>
              <a:ext uri="{FF2B5EF4-FFF2-40B4-BE49-F238E27FC236}">
                <a16:creationId xmlns:a16="http://schemas.microsoft.com/office/drawing/2014/main" id="{2FA9B5C7-627B-1DE0-5823-062D71DCC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0006" y="1790501"/>
            <a:ext cx="914400" cy="914400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C5353A7-790E-AF6A-5A06-2DCF5621227F}"/>
              </a:ext>
            </a:extLst>
          </p:cNvPr>
          <p:cNvSpPr/>
          <p:nvPr/>
        </p:nvSpPr>
        <p:spPr>
          <a:xfrm>
            <a:off x="8301985" y="3411821"/>
            <a:ext cx="1427700" cy="5508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70C614F-9192-2A2A-BB5A-BED425E6549E}"/>
              </a:ext>
            </a:extLst>
          </p:cNvPr>
          <p:cNvSpPr/>
          <p:nvPr/>
        </p:nvSpPr>
        <p:spPr>
          <a:xfrm>
            <a:off x="8301985" y="4340210"/>
            <a:ext cx="1427700" cy="55086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B5EA61B-0360-2898-5059-0CD258DDBF68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9015835" y="3962684"/>
            <a:ext cx="0" cy="3775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4ED44B09-B620-ED96-DC31-C1176ED89F8B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 rot="16200000" flipH="1">
            <a:off x="7877866" y="2273852"/>
            <a:ext cx="771262" cy="1504676"/>
          </a:xfrm>
          <a:prstGeom prst="curvedConnector3">
            <a:avLst/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25DB405F-B024-785C-D974-3FD6FEE9364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9248061" y="2472676"/>
            <a:ext cx="706920" cy="1171371"/>
          </a:xfrm>
          <a:prstGeom prst="curvedConnector3">
            <a:avLst>
              <a:gd name="adj1" fmla="val 50000"/>
            </a:avLst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连接符: 曲线 56">
            <a:extLst>
              <a:ext uri="{FF2B5EF4-FFF2-40B4-BE49-F238E27FC236}">
                <a16:creationId xmlns:a16="http://schemas.microsoft.com/office/drawing/2014/main" id="{45B6DC71-7889-47F1-5C0A-E7BBA561E2B2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rot="16200000" flipH="1">
            <a:off x="8542501" y="2938487"/>
            <a:ext cx="753572" cy="193096"/>
          </a:xfrm>
          <a:prstGeom prst="curvedConnector3">
            <a:avLst>
              <a:gd name="adj1" fmla="val 50000"/>
            </a:avLst>
          </a:prstGeom>
          <a:ln w="254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63056365-B82F-9685-EF39-4AA3B5FB9C09}"/>
              </a:ext>
            </a:extLst>
          </p:cNvPr>
          <p:cNvSpPr txBox="1"/>
          <p:nvPr/>
        </p:nvSpPr>
        <p:spPr>
          <a:xfrm>
            <a:off x="9166031" y="3998418"/>
            <a:ext cx="94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训练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A3230BE-0CEA-904E-B66E-15D0AA729AE5}"/>
              </a:ext>
            </a:extLst>
          </p:cNvPr>
          <p:cNvSpPr txBox="1"/>
          <p:nvPr/>
        </p:nvSpPr>
        <p:spPr>
          <a:xfrm>
            <a:off x="2359977" y="1229849"/>
            <a:ext cx="1188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提示工程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F11002B-8647-4C9B-D46B-7642732F2068}"/>
              </a:ext>
            </a:extLst>
          </p:cNvPr>
          <p:cNvSpPr txBox="1"/>
          <p:nvPr/>
        </p:nvSpPr>
        <p:spPr>
          <a:xfrm>
            <a:off x="8325161" y="1229042"/>
            <a:ext cx="118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模型微调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8A38B27-E1E3-5721-906F-3480897C41C7}"/>
              </a:ext>
            </a:extLst>
          </p:cNvPr>
          <p:cNvSpPr txBox="1"/>
          <p:nvPr/>
        </p:nvSpPr>
        <p:spPr>
          <a:xfrm>
            <a:off x="3761927" y="2207380"/>
            <a:ext cx="123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轻量资源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2DE1528-CFC2-7C97-007D-094967AAD3BD}"/>
              </a:ext>
            </a:extLst>
          </p:cNvPr>
          <p:cNvSpPr txBox="1"/>
          <p:nvPr/>
        </p:nvSpPr>
        <p:spPr>
          <a:xfrm>
            <a:off x="10897456" y="1924535"/>
            <a:ext cx="1233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特定任务数据集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468E15F-7CC2-3EA0-91BF-CF5734C86B76}"/>
              </a:ext>
            </a:extLst>
          </p:cNvPr>
          <p:cNvSpPr/>
          <p:nvPr/>
        </p:nvSpPr>
        <p:spPr>
          <a:xfrm>
            <a:off x="1896894" y="5233482"/>
            <a:ext cx="1945531" cy="857560"/>
          </a:xfrm>
          <a:prstGeom prst="rect">
            <a:avLst/>
          </a:prstGeom>
          <a:noFill/>
          <a:ln w="317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54860A3-071A-31B2-8CC6-BA895E704B93}"/>
              </a:ext>
            </a:extLst>
          </p:cNvPr>
          <p:cNvSpPr/>
          <p:nvPr/>
        </p:nvSpPr>
        <p:spPr>
          <a:xfrm>
            <a:off x="6575899" y="5219815"/>
            <a:ext cx="4786008" cy="857560"/>
          </a:xfrm>
          <a:prstGeom prst="rect">
            <a:avLst/>
          </a:prstGeom>
          <a:noFill/>
          <a:ln w="31750">
            <a:solidFill>
              <a:schemeClr val="accent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6" name="图形 75" descr="书本">
            <a:extLst>
              <a:ext uri="{FF2B5EF4-FFF2-40B4-BE49-F238E27FC236}">
                <a16:creationId xmlns:a16="http://schemas.microsoft.com/office/drawing/2014/main" id="{400947E3-F418-CC67-D46A-DE384F227D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0360" y="5261017"/>
            <a:ext cx="858373" cy="858373"/>
          </a:xfrm>
          <a:prstGeom prst="rect">
            <a:avLst/>
          </a:prstGeom>
        </p:spPr>
      </p:pic>
      <p:pic>
        <p:nvPicPr>
          <p:cNvPr id="77" name="图形 76" descr="时钟">
            <a:extLst>
              <a:ext uri="{FF2B5EF4-FFF2-40B4-BE49-F238E27FC236}">
                <a16:creationId xmlns:a16="http://schemas.microsoft.com/office/drawing/2014/main" id="{276BF2F4-B760-72D1-1A49-261B1A68FD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8733" y="5690681"/>
            <a:ext cx="386694" cy="386694"/>
          </a:xfrm>
          <a:prstGeom prst="rect">
            <a:avLst/>
          </a:prstGeom>
        </p:spPr>
      </p:pic>
      <p:pic>
        <p:nvPicPr>
          <p:cNvPr id="78" name="图形 77" descr="计算机网络服务器">
            <a:extLst>
              <a:ext uri="{FF2B5EF4-FFF2-40B4-BE49-F238E27FC236}">
                <a16:creationId xmlns:a16="http://schemas.microsoft.com/office/drawing/2014/main" id="{619E16B3-E265-F0BC-6E09-1015A1E5F9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9739" y="5319761"/>
            <a:ext cx="685002" cy="685002"/>
          </a:xfrm>
          <a:prstGeom prst="rect">
            <a:avLst/>
          </a:prstGeom>
        </p:spPr>
      </p:pic>
      <p:pic>
        <p:nvPicPr>
          <p:cNvPr id="79" name="图形 78" descr="时钟">
            <a:extLst>
              <a:ext uri="{FF2B5EF4-FFF2-40B4-BE49-F238E27FC236}">
                <a16:creationId xmlns:a16="http://schemas.microsoft.com/office/drawing/2014/main" id="{C2EFF21E-B2A0-BFA5-576A-B08882D0BB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7362" y="5690203"/>
            <a:ext cx="386694" cy="386694"/>
          </a:xfrm>
          <a:prstGeom prst="rect">
            <a:avLst/>
          </a:prstGeom>
        </p:spPr>
      </p:pic>
      <p:pic>
        <p:nvPicPr>
          <p:cNvPr id="80" name="图形 79" descr="测试">
            <a:extLst>
              <a:ext uri="{FF2B5EF4-FFF2-40B4-BE49-F238E27FC236}">
                <a16:creationId xmlns:a16="http://schemas.microsoft.com/office/drawing/2014/main" id="{55432611-DA87-721E-B4A3-32999CC8BB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83056" y="5179306"/>
            <a:ext cx="914400" cy="914400"/>
          </a:xfrm>
          <a:prstGeom prst="rect">
            <a:avLst/>
          </a:prstGeom>
        </p:spPr>
      </p:pic>
      <p:pic>
        <p:nvPicPr>
          <p:cNvPr id="81" name="图形 80" descr="时钟">
            <a:extLst>
              <a:ext uri="{FF2B5EF4-FFF2-40B4-BE49-F238E27FC236}">
                <a16:creationId xmlns:a16="http://schemas.microsoft.com/office/drawing/2014/main" id="{EBE953BE-8678-6E3E-8790-56DECED307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97456" y="5677828"/>
            <a:ext cx="386694" cy="386694"/>
          </a:xfrm>
          <a:prstGeom prst="rect">
            <a:avLst/>
          </a:prstGeom>
        </p:spPr>
      </p:pic>
      <p:pic>
        <p:nvPicPr>
          <p:cNvPr id="82" name="图形 81" descr="时钟">
            <a:extLst>
              <a:ext uri="{FF2B5EF4-FFF2-40B4-BE49-F238E27FC236}">
                <a16:creationId xmlns:a16="http://schemas.microsoft.com/office/drawing/2014/main" id="{858588D7-D24A-386E-E1AF-458E3E2CC1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30011" y="5672458"/>
            <a:ext cx="386694" cy="386694"/>
          </a:xfrm>
          <a:prstGeom prst="rect">
            <a:avLst/>
          </a:prstGeom>
        </p:spPr>
      </p:pic>
      <p:pic>
        <p:nvPicPr>
          <p:cNvPr id="83" name="图形 82" descr="写信">
            <a:extLst>
              <a:ext uri="{FF2B5EF4-FFF2-40B4-BE49-F238E27FC236}">
                <a16:creationId xmlns:a16="http://schemas.microsoft.com/office/drawing/2014/main" id="{741C723E-D6C0-1BAE-6998-1B99EC8E1A9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4829" y="5319761"/>
            <a:ext cx="771281" cy="7712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4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>
            <a:extLst>
              <a:ext uri="{FF2B5EF4-FFF2-40B4-BE49-F238E27FC236}">
                <a16:creationId xmlns:a16="http://schemas.microsoft.com/office/drawing/2014/main" id="{0E36D1AA-4B73-9278-CB5F-0C0AABFE5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96" y="387938"/>
            <a:ext cx="8355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2.3.1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CAF9B9-21D0-0354-8370-3DA10BB4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152" y="355567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微调的优势与劣势</a:t>
            </a:r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2B3E463A-1175-DA7C-309C-33CCB812C7BA}"/>
              </a:ext>
            </a:extLst>
          </p:cNvPr>
          <p:cNvSpPr txBox="1"/>
          <p:nvPr/>
        </p:nvSpPr>
        <p:spPr>
          <a:xfrm>
            <a:off x="4756469" y="2637955"/>
            <a:ext cx="2957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感谢观看</a:t>
            </a:r>
          </a:p>
        </p:txBody>
      </p:sp>
      <p:pic>
        <p:nvPicPr>
          <p:cNvPr id="8" name="图片 7" descr="图标&#10;&#10;描述已自动生成">
            <a:extLst>
              <a:ext uri="{FF2B5EF4-FFF2-40B4-BE49-F238E27FC236}">
                <a16:creationId xmlns:a16="http://schemas.microsoft.com/office/drawing/2014/main" id="{9A77FF84-8FF7-B71F-2D4D-FD7B561002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" t="10555" r="19060" b="48687"/>
          <a:stretch>
            <a:fillRect/>
          </a:stretch>
        </p:blipFill>
        <p:spPr>
          <a:xfrm>
            <a:off x="0" y="0"/>
            <a:ext cx="8529802" cy="2949995"/>
          </a:xfrm>
          <a:custGeom>
            <a:avLst/>
            <a:gdLst>
              <a:gd name="connsiteX0" fmla="*/ 0 w 8529802"/>
              <a:gd name="connsiteY0" fmla="*/ 0 h 2949995"/>
              <a:gd name="connsiteX1" fmla="*/ 8529802 w 8529802"/>
              <a:gd name="connsiteY1" fmla="*/ 0 h 2949995"/>
              <a:gd name="connsiteX2" fmla="*/ 8529802 w 8529802"/>
              <a:gd name="connsiteY2" fmla="*/ 1997418 h 2949995"/>
              <a:gd name="connsiteX3" fmla="*/ 909184 w 8529802"/>
              <a:gd name="connsiteY3" fmla="*/ 2949995 h 2949995"/>
              <a:gd name="connsiteX4" fmla="*/ 97249 w 8529802"/>
              <a:gd name="connsiteY4" fmla="*/ 2105355 h 2949995"/>
              <a:gd name="connsiteX5" fmla="*/ 0 w 8529802"/>
              <a:gd name="connsiteY5" fmla="*/ 1998284 h 2949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529802" h="2949995">
                <a:moveTo>
                  <a:pt x="0" y="0"/>
                </a:moveTo>
                <a:lnTo>
                  <a:pt x="8529802" y="0"/>
                </a:lnTo>
                <a:lnTo>
                  <a:pt x="8529802" y="1997418"/>
                </a:lnTo>
                <a:lnTo>
                  <a:pt x="909184" y="2949995"/>
                </a:lnTo>
                <a:cubicBezTo>
                  <a:pt x="598208" y="2637113"/>
                  <a:pt x="329288" y="2356907"/>
                  <a:pt x="97249" y="2105355"/>
                </a:cubicBezTo>
                <a:lnTo>
                  <a:pt x="0" y="1998284"/>
                </a:lnTo>
                <a:close/>
              </a:path>
            </a:pathLst>
          </a:custGeom>
        </p:spPr>
      </p:pic>
      <p:pic>
        <p:nvPicPr>
          <p:cNvPr id="9" name="图片 8" descr="图标&#10;&#10;描述已自动生成">
            <a:extLst>
              <a:ext uri="{FF2B5EF4-FFF2-40B4-BE49-F238E27FC236}">
                <a16:creationId xmlns:a16="http://schemas.microsoft.com/office/drawing/2014/main" id="{F1FCC14B-CEF2-BD41-A322-5120233755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" t="29383" r="2167" b="20413"/>
          <a:stretch>
            <a:fillRect/>
          </a:stretch>
        </p:blipFill>
        <p:spPr>
          <a:xfrm>
            <a:off x="278179" y="3033050"/>
            <a:ext cx="11913821" cy="3824950"/>
          </a:xfrm>
          <a:custGeom>
            <a:avLst/>
            <a:gdLst>
              <a:gd name="connsiteX0" fmla="*/ 11913821 w 11913821"/>
              <a:gd name="connsiteY0" fmla="*/ 0 h 3824950"/>
              <a:gd name="connsiteX1" fmla="*/ 11913821 w 11913821"/>
              <a:gd name="connsiteY1" fmla="*/ 3824950 h 3824950"/>
              <a:gd name="connsiteX2" fmla="*/ 0 w 11913821"/>
              <a:gd name="connsiteY2" fmla="*/ 3824950 h 3824950"/>
              <a:gd name="connsiteX3" fmla="*/ 0 w 11913821"/>
              <a:gd name="connsiteY3" fmla="*/ 2902726 h 3824950"/>
              <a:gd name="connsiteX4" fmla="*/ 46876 w 11913821"/>
              <a:gd name="connsiteY4" fmla="*/ 2490155 h 3824950"/>
              <a:gd name="connsiteX5" fmla="*/ 11792764 w 11913821"/>
              <a:gd name="connsiteY5" fmla="*/ 38061 h 382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13821" h="3824950">
                <a:moveTo>
                  <a:pt x="11913821" y="0"/>
                </a:moveTo>
                <a:lnTo>
                  <a:pt x="11913821" y="3824950"/>
                </a:lnTo>
                <a:lnTo>
                  <a:pt x="0" y="3824950"/>
                </a:lnTo>
                <a:lnTo>
                  <a:pt x="0" y="2902726"/>
                </a:lnTo>
                <a:lnTo>
                  <a:pt x="46876" y="2490155"/>
                </a:lnTo>
                <a:cubicBezTo>
                  <a:pt x="4067521" y="1691675"/>
                  <a:pt x="2590088" y="2919425"/>
                  <a:pt x="11792764" y="380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1439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2BE54385-761B-3918-2E91-B64AC83F8C12}"/>
              </a:ext>
            </a:extLst>
          </p:cNvPr>
          <p:cNvGrpSpPr/>
          <p:nvPr/>
        </p:nvGrpSpPr>
        <p:grpSpPr>
          <a:xfrm>
            <a:off x="1659832" y="1894522"/>
            <a:ext cx="8237855" cy="3068955"/>
            <a:chOff x="584835" y="2244090"/>
            <a:chExt cx="8237855" cy="3068955"/>
          </a:xfrm>
        </p:grpSpPr>
        <p:grpSp>
          <p:nvGrpSpPr>
            <p:cNvPr id="24" name="组合 23"/>
            <p:cNvGrpSpPr/>
            <p:nvPr/>
          </p:nvGrpSpPr>
          <p:grpSpPr>
            <a:xfrm>
              <a:off x="584835" y="2244090"/>
              <a:ext cx="5465445" cy="3068955"/>
              <a:chOff x="2264" y="3542"/>
              <a:chExt cx="8607" cy="4833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2264" y="4210"/>
                <a:ext cx="4221" cy="4165"/>
                <a:chOff x="2264" y="4405"/>
                <a:chExt cx="4221" cy="4165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2264" y="5492"/>
                  <a:ext cx="1928" cy="2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圆角矩形 2"/>
                <p:cNvSpPr/>
                <p:nvPr/>
              </p:nvSpPr>
              <p:spPr>
                <a:xfrm>
                  <a:off x="4557" y="5492"/>
                  <a:ext cx="1928" cy="2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椭圆 3"/>
                <p:cNvSpPr/>
                <p:nvPr/>
              </p:nvSpPr>
              <p:spPr>
                <a:xfrm>
                  <a:off x="4258" y="5480"/>
                  <a:ext cx="250" cy="25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" name="直接连接符 5"/>
                <p:cNvCxnSpPr>
                  <a:stCxn id="4" idx="4"/>
                </p:cNvCxnSpPr>
                <p:nvPr/>
              </p:nvCxnSpPr>
              <p:spPr>
                <a:xfrm>
                  <a:off x="4383" y="5730"/>
                  <a:ext cx="0" cy="1011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60000"/>
                      <a:lumOff val="4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圆角矩形 6"/>
                <p:cNvSpPr/>
                <p:nvPr/>
              </p:nvSpPr>
              <p:spPr>
                <a:xfrm>
                  <a:off x="3243" y="6853"/>
                  <a:ext cx="2224" cy="6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有监督学习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3119" y="4405"/>
                  <a:ext cx="2818" cy="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2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ea typeface="汉仪中黑简" panose="02010600000101010101" charset="-122"/>
                      <a:cs typeface="Times New Roman" panose="02020603050405020304" pitchFamily="18" charset="0"/>
                      <a:sym typeface="+mn-ea"/>
                    </a:rPr>
                    <a:t>LSTM</a:t>
                  </a:r>
                  <a:r>
                    <a:rPr lang="zh-CN" altLang="en-US" sz="2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ea typeface="汉仪中黑简" panose="02010600000101010101" charset="-122"/>
                      <a:cs typeface="Times New Roman" panose="02020603050405020304" pitchFamily="18" charset="0"/>
                      <a:sym typeface="+mn-ea"/>
                    </a:rPr>
                    <a:t>、</a:t>
                  </a:r>
                  <a:r>
                    <a:rPr lang="en-US" altLang="zh-CN" sz="20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603050405020304" pitchFamily="18" charset="0"/>
                      <a:ea typeface="汉仪中黑简" panose="02010600000101010101" charset="-122"/>
                      <a:cs typeface="Times New Roman" panose="02020603050405020304" pitchFamily="18" charset="0"/>
                      <a:sym typeface="+mn-ea"/>
                    </a:rPr>
                    <a:t>CNN</a:t>
                  </a:r>
                  <a:endParaRPr lang="zh-CN" alt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汉仪中黑简" panose="02010600000101010101" charset="-122"/>
                    <a:cs typeface="Times New Roman" panose="02020603050405020304" pitchFamily="18" charset="0"/>
                    <a:sym typeface="+mn-ea"/>
                  </a:endParaRP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3389" y="7988"/>
                  <a:ext cx="2238" cy="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汉仪中黑简" panose="02010600000101010101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圆角矩形 11"/>
              <p:cNvSpPr/>
              <p:nvPr/>
            </p:nvSpPr>
            <p:spPr>
              <a:xfrm flipV="1">
                <a:off x="6650" y="5292"/>
                <a:ext cx="1928" cy="227"/>
              </a:xfrm>
              <a:prstGeom prst="roundRect">
                <a:avLst>
                  <a:gd name="adj" fmla="val 50000"/>
                </a:avLst>
              </a:prstGeom>
              <a:solidFill>
                <a:srgbClr val="E8B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 flipV="1">
                <a:off x="8943" y="5292"/>
                <a:ext cx="1928" cy="227"/>
              </a:xfrm>
              <a:prstGeom prst="roundRect">
                <a:avLst>
                  <a:gd name="adj" fmla="val 50000"/>
                </a:avLst>
              </a:prstGeom>
              <a:solidFill>
                <a:srgbClr val="E8BB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flipV="1">
                <a:off x="8644" y="5281"/>
                <a:ext cx="250" cy="250"/>
              </a:xfrm>
              <a:prstGeom prst="ellipse">
                <a:avLst/>
              </a:prstGeom>
              <a:solidFill>
                <a:srgbClr val="D78B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连接符 15"/>
              <p:cNvCxnSpPr>
                <a:stCxn id="14" idx="4"/>
              </p:cNvCxnSpPr>
              <p:nvPr/>
            </p:nvCxnSpPr>
            <p:spPr>
              <a:xfrm flipV="1">
                <a:off x="8769" y="4270"/>
                <a:ext cx="0" cy="1011"/>
              </a:xfrm>
              <a:prstGeom prst="line">
                <a:avLst/>
              </a:prstGeom>
              <a:ln w="12700">
                <a:solidFill>
                  <a:srgbClr val="D78B73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圆角矩形 16"/>
              <p:cNvSpPr/>
              <p:nvPr/>
            </p:nvSpPr>
            <p:spPr>
              <a:xfrm rot="10800000" flipV="1">
                <a:off x="7545" y="3542"/>
                <a:ext cx="2512" cy="600"/>
              </a:xfrm>
              <a:prstGeom prst="roundRect">
                <a:avLst>
                  <a:gd name="adj" fmla="val 50000"/>
                </a:avLst>
              </a:prstGeom>
              <a:solidFill>
                <a:srgbClr val="DFA38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预训练</a:t>
                </a:r>
                <a:r>
                  <a:rPr lang="en-US" altLang="zh-CN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微调</a:t>
                </a: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6781" y="5797"/>
                <a:ext cx="4040" cy="823"/>
                <a:chOff x="2928" y="2994"/>
                <a:chExt cx="4040" cy="823"/>
              </a:xfrm>
            </p:grpSpPr>
            <p:sp>
              <p:nvSpPr>
                <p:cNvPr id="20" name="文本框 19"/>
                <p:cNvSpPr txBox="1"/>
                <p:nvPr/>
              </p:nvSpPr>
              <p:spPr>
                <a:xfrm>
                  <a:off x="3618" y="2994"/>
                  <a:ext cx="2944" cy="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预训练模型</a:t>
                  </a:r>
                  <a:endPara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2928" y="3332"/>
                  <a:ext cx="4040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endParaRPr lang="zh-CN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汉仪中黑简" panose="02010600000101010101" charset="-122"/>
                    <a:ea typeface="汉仪中黑简" panose="02010600000101010101" charset="-122"/>
                    <a:cs typeface="汉仪中黑简" panose="02010600000101010101" charset="-122"/>
                    <a:sym typeface="+mn-ea"/>
                  </a:endParaRPr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6142355" y="2793365"/>
              <a:ext cx="2680335" cy="1820545"/>
              <a:chOff x="2264" y="4602"/>
              <a:chExt cx="4221" cy="2867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2264" y="5492"/>
                <a:ext cx="1928" cy="227"/>
              </a:xfrm>
              <a:prstGeom prst="roundRect">
                <a:avLst>
                  <a:gd name="adj" fmla="val 50000"/>
                </a:avLst>
              </a:prstGeom>
              <a:solidFill>
                <a:srgbClr val="E6DC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圆角矩形 27"/>
              <p:cNvSpPr/>
              <p:nvPr/>
            </p:nvSpPr>
            <p:spPr>
              <a:xfrm>
                <a:off x="4557" y="5492"/>
                <a:ext cx="1928" cy="227"/>
              </a:xfrm>
              <a:prstGeom prst="roundRect">
                <a:avLst>
                  <a:gd name="adj" fmla="val 50000"/>
                </a:avLst>
              </a:prstGeom>
              <a:solidFill>
                <a:srgbClr val="E6DC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4258" y="5480"/>
                <a:ext cx="250" cy="250"/>
              </a:xfrm>
              <a:prstGeom prst="ellipse">
                <a:avLst/>
              </a:prstGeom>
              <a:solidFill>
                <a:srgbClr val="926A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/>
              <p:cNvCxnSpPr>
                <a:stCxn id="29" idx="4"/>
              </p:cNvCxnSpPr>
              <p:nvPr/>
            </p:nvCxnSpPr>
            <p:spPr>
              <a:xfrm>
                <a:off x="4383" y="5730"/>
                <a:ext cx="0" cy="1011"/>
              </a:xfrm>
              <a:prstGeom prst="line">
                <a:avLst/>
              </a:prstGeom>
              <a:ln w="12700">
                <a:solidFill>
                  <a:srgbClr val="926A8B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圆角矩形 30"/>
              <p:cNvSpPr/>
              <p:nvPr/>
            </p:nvSpPr>
            <p:spPr>
              <a:xfrm>
                <a:off x="3228" y="6869"/>
                <a:ext cx="2378" cy="600"/>
              </a:xfrm>
              <a:prstGeom prst="roundRect">
                <a:avLst>
                  <a:gd name="adj" fmla="val 50000"/>
                </a:avLst>
              </a:prstGeom>
              <a:solidFill>
                <a:srgbClr val="C0A7B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预训练</a:t>
                </a:r>
                <a:r>
                  <a:rPr lang="en-US" altLang="zh-CN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zh-CN" alt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提示</a:t>
                </a: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744" y="4602"/>
                <a:ext cx="1965" cy="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汉仪中黑简" panose="02010600000101010101" charset="-122"/>
                    <a:cs typeface="Times New Roman" panose="02020603050405020304" pitchFamily="18" charset="0"/>
                  </a:rPr>
                  <a:t>GPT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汉仪中黑简" panose="02010600000101010101" charset="-122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4A13F86-ACDF-F1E1-9050-44B300A947BB}"/>
              </a:ext>
            </a:extLst>
          </p:cNvPr>
          <p:cNvCxnSpPr/>
          <p:nvPr/>
        </p:nvCxnSpPr>
        <p:spPr>
          <a:xfrm>
            <a:off x="772886" y="4731529"/>
            <a:ext cx="110940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8676890-CC4F-8A25-632F-A18A7B8FA141}"/>
              </a:ext>
            </a:extLst>
          </p:cNvPr>
          <p:cNvSpPr txBox="1"/>
          <p:nvPr/>
        </p:nvSpPr>
        <p:spPr>
          <a:xfrm>
            <a:off x="895739" y="5038527"/>
            <a:ext cx="89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7564D5F-5CA4-6A0F-8AC0-1E1DE15F5502}"/>
              </a:ext>
            </a:extLst>
          </p:cNvPr>
          <p:cNvSpPr txBox="1"/>
          <p:nvPr/>
        </p:nvSpPr>
        <p:spPr>
          <a:xfrm>
            <a:off x="2281303" y="5049229"/>
            <a:ext cx="117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4CFB847-232D-0792-5ADB-61743CA23C65}"/>
              </a:ext>
            </a:extLst>
          </p:cNvPr>
          <p:cNvSpPr txBox="1"/>
          <p:nvPr/>
        </p:nvSpPr>
        <p:spPr>
          <a:xfrm>
            <a:off x="4716777" y="5058157"/>
            <a:ext cx="136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1E7226-F4F1-3A8B-E2B5-C59EF5221F79}"/>
              </a:ext>
            </a:extLst>
          </p:cNvPr>
          <p:cNvSpPr txBox="1"/>
          <p:nvPr/>
        </p:nvSpPr>
        <p:spPr>
          <a:xfrm>
            <a:off x="5853496" y="5058157"/>
            <a:ext cx="136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0632093-AF69-E732-F771-025B23D70DA0}"/>
              </a:ext>
            </a:extLst>
          </p:cNvPr>
          <p:cNvSpPr txBox="1"/>
          <p:nvPr/>
        </p:nvSpPr>
        <p:spPr>
          <a:xfrm>
            <a:off x="7345083" y="5058157"/>
            <a:ext cx="136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B2C01B1-68AB-5A40-9BB0-E86F9EB4FC03}"/>
              </a:ext>
            </a:extLst>
          </p:cNvPr>
          <p:cNvSpPr txBox="1"/>
          <p:nvPr/>
        </p:nvSpPr>
        <p:spPr>
          <a:xfrm>
            <a:off x="8781039" y="5058157"/>
            <a:ext cx="108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E4FCF8A-D27D-18A6-0E59-489C1A7C7252}"/>
              </a:ext>
            </a:extLst>
          </p:cNvPr>
          <p:cNvSpPr txBox="1"/>
          <p:nvPr/>
        </p:nvSpPr>
        <p:spPr>
          <a:xfrm>
            <a:off x="10504715" y="5058157"/>
            <a:ext cx="13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百模大战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493CF26-ABCB-9DD8-88AB-03ABA3AA83BF}"/>
              </a:ext>
            </a:extLst>
          </p:cNvPr>
          <p:cNvSpPr txBox="1"/>
          <p:nvPr/>
        </p:nvSpPr>
        <p:spPr>
          <a:xfrm>
            <a:off x="961561" y="5557152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05363E2-73C6-9371-C904-F517C3D5B34F}"/>
              </a:ext>
            </a:extLst>
          </p:cNvPr>
          <p:cNvSpPr txBox="1"/>
          <p:nvPr/>
        </p:nvSpPr>
        <p:spPr>
          <a:xfrm>
            <a:off x="2484768" y="5551594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B5D4140-4F3F-9E25-C4C2-95E41A51462A}"/>
              </a:ext>
            </a:extLst>
          </p:cNvPr>
          <p:cNvSpPr txBox="1"/>
          <p:nvPr/>
        </p:nvSpPr>
        <p:spPr>
          <a:xfrm>
            <a:off x="5026414" y="5540655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0CE17B4-65B9-D9E7-4950-ED5122A4AC9D}"/>
              </a:ext>
            </a:extLst>
          </p:cNvPr>
          <p:cNvSpPr txBox="1"/>
          <p:nvPr/>
        </p:nvSpPr>
        <p:spPr>
          <a:xfrm>
            <a:off x="6352651" y="5540655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264DDA-EC28-D9D1-F736-D38721B411B8}"/>
              </a:ext>
            </a:extLst>
          </p:cNvPr>
          <p:cNvSpPr txBox="1"/>
          <p:nvPr/>
        </p:nvSpPr>
        <p:spPr>
          <a:xfrm>
            <a:off x="7850415" y="5540655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0D84E7F-31FA-73DE-ABFA-A121428C029C}"/>
              </a:ext>
            </a:extLst>
          </p:cNvPr>
          <p:cNvSpPr txBox="1"/>
          <p:nvPr/>
        </p:nvSpPr>
        <p:spPr>
          <a:xfrm>
            <a:off x="9022880" y="5538251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680C549-5545-F61F-6D82-DA5EC0C6DE04}"/>
              </a:ext>
            </a:extLst>
          </p:cNvPr>
          <p:cNvSpPr txBox="1"/>
          <p:nvPr/>
        </p:nvSpPr>
        <p:spPr>
          <a:xfrm>
            <a:off x="10733492" y="5538251"/>
            <a:ext cx="7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http://photo-static-api.fotomore.com/creative/vcg/400/new/VCG41N1314474410.jpg?uid=386&amp;timestamp=1711620267&amp;sign=fc8c372bf6d2d4e227946f811d72e37e" descr="templates\picture_hover\&amp;pky320_sjzg_VCG41N1314474410&amp;">
            <a:extLst>
              <a:ext uri="{FF2B5EF4-FFF2-40B4-BE49-F238E27FC236}">
                <a16:creationId xmlns:a16="http://schemas.microsoft.com/office/drawing/2014/main" id="{354A3714-59BC-25A3-1F66-227209873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8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33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NmEwODFjNGJlMzQ1ZmQzMjlmYzNiYzJkMDI1Y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*28"/>
  <p:tag name="TABLE_ENDDRAG_RECT" val="368*292*81*2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50*346*120*3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71*343*120*3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29"/>
  <p:tag name="TABLE_ENDDRAG_RECT" val="359*348*120*2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9*29"/>
  <p:tag name="TABLE_ENDDRAG_RECT" val="71*250*119*2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509*346*120*3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50*346*120*3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71*343*120*3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29"/>
  <p:tag name="TABLE_ENDDRAG_RECT" val="359*348*120*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9*29"/>
  <p:tag name="TABLE_ENDDRAG_RECT" val="71*250*119*2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0*31"/>
  <p:tag name="TABLE_ENDDRAG_RECT" val="509*346*120*3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7|0.4|0.3|0.7|0.3|0.9|0.9|0.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accent3">
              <a:lumMod val="60000"/>
              <a:lumOff val="40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1153</Words>
  <Application>Microsoft Office PowerPoint</Application>
  <PresentationFormat>宽屏</PresentationFormat>
  <Paragraphs>316</Paragraphs>
  <Slides>22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汉仪中黑简</vt:lpstr>
      <vt:lpstr>宋体</vt:lpstr>
      <vt:lpstr>微软雅黑</vt:lpstr>
      <vt:lpstr>Arial</vt:lpstr>
      <vt:lpstr>Calibri</vt:lpstr>
      <vt:lpstr>Times New Roman</vt:lpstr>
      <vt:lpstr>WPS</vt:lpstr>
      <vt:lpstr>《大语言模型与提示工程介绍》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《大语言模型与提示工程介绍》</dc:title>
  <dc:creator>唐天驰</dc:creator>
  <cp:lastModifiedBy>天驰 唐</cp:lastModifiedBy>
  <cp:revision>1288</cp:revision>
  <dcterms:created xsi:type="dcterms:W3CDTF">2023-08-09T12:44:00Z</dcterms:created>
  <dcterms:modified xsi:type="dcterms:W3CDTF">2024-03-29T07:50:38Z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2052-12.1.0.16388</vt:lpwstr>
  </property>
</Properties>
</file>