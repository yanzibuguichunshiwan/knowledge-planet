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Lst>
  <p:sldSz cx="13679805" cy="863981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21" userDrawn="1">
          <p15:clr>
            <a:srgbClr val="A4A3A4"/>
          </p15:clr>
        </p15:guide>
        <p15:guide id="2" pos="43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721"/>
        <p:guide pos="430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69.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345110" y="1152000"/>
            <a:ext cx="10995166" cy="3238299"/>
          </a:xfrm>
        </p:spPr>
        <p:txBody>
          <a:bodyPr lIns="90000" tIns="46800" rIns="90000" bIns="46800" anchor="b" anchorCtr="0">
            <a:normAutofit/>
          </a:bodyPr>
          <a:lstStyle>
            <a:lvl1pPr algn="ctr">
              <a:defRPr sz="756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345110" y="4485543"/>
            <a:ext cx="10995166" cy="1854992"/>
          </a:xfrm>
        </p:spPr>
        <p:txBody>
          <a:bodyPr lIns="90000" tIns="46800" rIns="90000" bIns="46800">
            <a:normAutofit/>
          </a:bodyPr>
          <a:lstStyle>
            <a:lvl1pPr marL="0" indent="0" algn="ctr">
              <a:lnSpc>
                <a:spcPct val="110000"/>
              </a:lnSpc>
              <a:buNone/>
              <a:defRPr sz="3025" spc="200"/>
            </a:lvl1pPr>
            <a:lvl2pPr marL="575945" indent="0" algn="ctr">
              <a:buNone/>
              <a:defRPr sz="2520"/>
            </a:lvl2pPr>
            <a:lvl3pPr marL="1151890" indent="0" algn="ctr">
              <a:buNone/>
              <a:defRPr sz="2270"/>
            </a:lvl3pPr>
            <a:lvl4pPr marL="1727835" indent="0" algn="ctr">
              <a:buNone/>
              <a:defRPr sz="2015"/>
            </a:lvl4pPr>
            <a:lvl5pPr marL="2303780" indent="0" algn="ctr">
              <a:buNone/>
              <a:defRPr sz="2015"/>
            </a:lvl5pPr>
            <a:lvl6pPr marL="2879725" indent="0" algn="ctr">
              <a:buNone/>
              <a:defRPr sz="2015"/>
            </a:lvl6pPr>
            <a:lvl7pPr marL="3456305" indent="0" algn="ctr">
              <a:buNone/>
              <a:defRPr sz="2015"/>
            </a:lvl7pPr>
            <a:lvl8pPr marL="4032250" indent="0" algn="ctr">
              <a:buNone/>
              <a:defRPr sz="2015"/>
            </a:lvl8pPr>
            <a:lvl9pPr marL="4608195" indent="0" algn="ctr">
              <a:buNone/>
              <a:defRPr sz="2015"/>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82654" y="766488"/>
            <a:ext cx="12307961" cy="888945"/>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82654" y="1877669"/>
            <a:ext cx="12307961" cy="5995842"/>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2233772" y="4848378"/>
            <a:ext cx="8716961" cy="966047"/>
          </a:xfrm>
        </p:spPr>
        <p:txBody>
          <a:bodyPr lIns="90000" tIns="46800" rIns="90000" bIns="46800" anchor="b" anchorCtr="0">
            <a:normAutofit/>
          </a:bodyPr>
          <a:lstStyle>
            <a:lvl1pPr>
              <a:defRPr sz="5545"/>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2233772" y="5814425"/>
            <a:ext cx="8716961" cy="1093039"/>
          </a:xfrm>
        </p:spPr>
        <p:txBody>
          <a:bodyPr lIns="90000" tIns="46800" rIns="90000" bIns="46800">
            <a:normAutofit/>
          </a:bodyPr>
          <a:lstStyle>
            <a:lvl1pPr marL="0" indent="0">
              <a:buNone/>
              <a:defRPr sz="2270">
                <a:solidFill>
                  <a:schemeClr val="tx1">
                    <a:lumMod val="65000"/>
                    <a:lumOff val="35000"/>
                  </a:schemeClr>
                </a:solidFill>
              </a:defRPr>
            </a:lvl1pPr>
            <a:lvl2pPr marL="575945" indent="0">
              <a:buNone/>
              <a:defRPr sz="2015">
                <a:solidFill>
                  <a:schemeClr val="tx1">
                    <a:tint val="75000"/>
                  </a:schemeClr>
                </a:solidFill>
              </a:defRPr>
            </a:lvl2pPr>
            <a:lvl3pPr marL="1151890" indent="0">
              <a:buNone/>
              <a:defRPr sz="2015">
                <a:solidFill>
                  <a:schemeClr val="tx1">
                    <a:tint val="75000"/>
                  </a:schemeClr>
                </a:solidFill>
              </a:defRPr>
            </a:lvl3pPr>
            <a:lvl4pPr marL="1727835" indent="0">
              <a:buNone/>
              <a:defRPr sz="2015">
                <a:solidFill>
                  <a:schemeClr val="tx1">
                    <a:tint val="75000"/>
                  </a:schemeClr>
                </a:solidFill>
              </a:defRPr>
            </a:lvl4pPr>
            <a:lvl5pPr marL="2303780" indent="0">
              <a:buNone/>
              <a:defRPr sz="2015">
                <a:solidFill>
                  <a:schemeClr val="tx1">
                    <a:tint val="75000"/>
                  </a:schemeClr>
                </a:solidFill>
              </a:defRPr>
            </a:lvl5pPr>
            <a:lvl6pPr marL="2879725" indent="0">
              <a:buNone/>
              <a:defRPr sz="2015">
                <a:solidFill>
                  <a:schemeClr val="tx1">
                    <a:tint val="75000"/>
                  </a:schemeClr>
                </a:solidFill>
              </a:defRPr>
            </a:lvl6pPr>
            <a:lvl7pPr marL="3456305" indent="0">
              <a:buNone/>
              <a:defRPr sz="2015">
                <a:solidFill>
                  <a:schemeClr val="tx1">
                    <a:tint val="75000"/>
                  </a:schemeClr>
                </a:solidFill>
              </a:defRPr>
            </a:lvl7pPr>
            <a:lvl8pPr marL="4032250" indent="0">
              <a:buNone/>
              <a:defRPr sz="2015">
                <a:solidFill>
                  <a:schemeClr val="tx1">
                    <a:tint val="75000"/>
                  </a:schemeClr>
                </a:solidFill>
              </a:defRPr>
            </a:lvl8pPr>
            <a:lvl9pPr marL="4608195" indent="0">
              <a:buNone/>
              <a:defRPr sz="2015">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82654" y="766488"/>
            <a:ext cx="12307961" cy="888945"/>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82654" y="1891276"/>
            <a:ext cx="5808615" cy="5982236"/>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7194119" y="1891276"/>
            <a:ext cx="5808615" cy="5982236"/>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82654" y="766488"/>
            <a:ext cx="12307961" cy="888945"/>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82654" y="1800567"/>
            <a:ext cx="5994426" cy="480756"/>
          </a:xfrm>
        </p:spPr>
        <p:txBody>
          <a:bodyPr lIns="101600" tIns="38100" rIns="76200" bIns="38100" anchor="t" anchorCtr="0">
            <a:normAutofit/>
          </a:bodyPr>
          <a:lstStyle>
            <a:lvl1pPr marL="0" indent="0">
              <a:lnSpc>
                <a:spcPct val="100000"/>
              </a:lnSpc>
              <a:buNone/>
              <a:defRPr sz="2520" b="1" spc="200">
                <a:solidFill>
                  <a:schemeClr val="tx1">
                    <a:lumMod val="75000"/>
                    <a:lumOff val="25000"/>
                  </a:schemeClr>
                </a:solidFill>
              </a:defRPr>
            </a:lvl1pPr>
            <a:lvl2pPr marL="575945" indent="0">
              <a:buNone/>
              <a:defRPr sz="2520" b="1"/>
            </a:lvl2pPr>
            <a:lvl3pPr marL="1151890" indent="0">
              <a:buNone/>
              <a:defRPr sz="2270" b="1"/>
            </a:lvl3pPr>
            <a:lvl4pPr marL="1727835" indent="0">
              <a:buNone/>
              <a:defRPr sz="2015" b="1"/>
            </a:lvl4pPr>
            <a:lvl5pPr marL="2303780" indent="0">
              <a:buNone/>
              <a:defRPr sz="2015" b="1"/>
            </a:lvl5pPr>
            <a:lvl6pPr marL="2879725" indent="0">
              <a:buNone/>
              <a:defRPr sz="2015" b="1"/>
            </a:lvl6pPr>
            <a:lvl7pPr marL="3456305" indent="0">
              <a:buNone/>
              <a:defRPr sz="2015" b="1"/>
            </a:lvl7pPr>
            <a:lvl8pPr marL="4032250" indent="0">
              <a:buNone/>
              <a:defRPr sz="2015" b="1"/>
            </a:lvl8pPr>
            <a:lvl9pPr marL="4608195" indent="0">
              <a:buNone/>
              <a:defRPr sz="2015"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82654" y="2335748"/>
            <a:ext cx="5994426" cy="5537764"/>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996807" y="1791155"/>
            <a:ext cx="5994426" cy="480756"/>
          </a:xfrm>
        </p:spPr>
        <p:txBody>
          <a:bodyPr vert="horz" lIns="101600" tIns="38100" rIns="76200" bIns="38100" rtlCol="0" anchor="t" anchorCtr="0">
            <a:normAutofit/>
          </a:bodyPr>
          <a:lstStyle>
            <a:lvl1pPr marL="0" indent="0">
              <a:lnSpc>
                <a:spcPct val="100000"/>
              </a:lnSpc>
              <a:buNone/>
              <a:defRPr sz="2520" b="1" spc="200">
                <a:solidFill>
                  <a:schemeClr val="tx1">
                    <a:lumMod val="75000"/>
                    <a:lumOff val="25000"/>
                  </a:schemeClr>
                </a:solidFill>
              </a:defRPr>
            </a:lvl1pPr>
            <a:lvl2pPr marL="575945" indent="0">
              <a:buNone/>
              <a:defRPr sz="2520" b="1"/>
            </a:lvl2pPr>
            <a:lvl3pPr marL="1151890" indent="0">
              <a:buNone/>
              <a:defRPr sz="2270" b="1"/>
            </a:lvl3pPr>
            <a:lvl4pPr marL="1727835" indent="0">
              <a:buNone/>
              <a:defRPr sz="2015" b="1"/>
            </a:lvl4pPr>
            <a:lvl5pPr marL="2303780" indent="0">
              <a:buNone/>
              <a:defRPr sz="2015" b="1"/>
            </a:lvl5pPr>
            <a:lvl6pPr marL="2879725" indent="0">
              <a:buNone/>
              <a:defRPr sz="2015" b="1"/>
            </a:lvl6pPr>
            <a:lvl7pPr marL="3456305" indent="0">
              <a:buNone/>
              <a:defRPr sz="2015" b="1"/>
            </a:lvl7pPr>
            <a:lvl8pPr marL="4032250" indent="0">
              <a:buNone/>
              <a:defRPr sz="2015" b="1"/>
            </a:lvl8pPr>
            <a:lvl9pPr marL="4608195" indent="0">
              <a:buNone/>
              <a:defRPr sz="2015"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996807" y="2335748"/>
            <a:ext cx="5994426" cy="5537764"/>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82654" y="766488"/>
            <a:ext cx="12307961" cy="888945"/>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82654" y="1959307"/>
            <a:ext cx="5871760" cy="5805354"/>
          </a:xfrm>
        </p:spPr>
        <p:txBody>
          <a:bodyPr vert="horz" lIns="90000" tIns="46800" rIns="90000" bIns="46800" rtlCol="0">
            <a:normAutofit/>
          </a:bodyPr>
          <a:lstStyle>
            <a:lvl1pPr>
              <a:buNone/>
              <a:defRPr sz="2015"/>
            </a:lvl1pPr>
          </a:lstStyle>
          <a:p>
            <a:pPr lvl="0"/>
            <a:endParaRPr lang="zh-CN" altLang="en-US"/>
          </a:p>
        </p:txBody>
      </p:sp>
      <p:sp>
        <p:nvSpPr>
          <p:cNvPr id="4" name="文本占位符 3"/>
          <p:cNvSpPr>
            <a:spLocks noGrp="1"/>
          </p:cNvSpPr>
          <p:nvPr>
            <p:ph type="body" sz="half" idx="2"/>
            <p:custDataLst>
              <p:tags r:id="rId3"/>
            </p:custDataLst>
          </p:nvPr>
        </p:nvSpPr>
        <p:spPr>
          <a:xfrm>
            <a:off x="7125449" y="1959307"/>
            <a:ext cx="5865166" cy="5805354"/>
          </a:xfrm>
        </p:spPr>
        <p:txBody>
          <a:bodyPr vert="horz" lIns="90000" tIns="46800" rIns="90000" bIns="46800" rtlCol="0">
            <a:normAutofit/>
          </a:bodyPr>
          <a:lstStyle>
            <a:lvl1pPr>
              <a:buNone/>
              <a:defRPr sz="2015"/>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1483930" y="1152000"/>
            <a:ext cx="1171417" cy="6336000"/>
          </a:xfrm>
        </p:spPr>
        <p:txBody>
          <a:bodyPr vert="eaVert" lIns="90000" tIns="46800" rIns="90000" bIns="46800" rtlCol="0" anchor="ctr" anchorCtr="0">
            <a:normAutofit/>
          </a:bodyPr>
          <a:lstStyle>
            <a:lvl1pPr>
              <a:buNone/>
              <a:defRPr sz="353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1026000" y="1152000"/>
            <a:ext cx="10288276" cy="6336000"/>
          </a:xfrm>
        </p:spPr>
        <p:txBody>
          <a:bodyPr vert="eaVert" lIns="46800" tIns="46800" rIns="46800" bIns="46800"/>
          <a:lstStyle>
            <a:lvl1pPr marL="288290" indent="-288290">
              <a:spcAft>
                <a:spcPts val="1000"/>
              </a:spcAft>
              <a:defRPr spc="300"/>
            </a:lvl1pPr>
            <a:lvl2pPr marL="864235" indent="-288290">
              <a:defRPr spc="300"/>
            </a:lvl2pPr>
            <a:lvl3pPr marL="1440180" indent="-288290">
              <a:defRPr spc="300"/>
            </a:lvl3pPr>
            <a:lvl4pPr marL="2016125" indent="-288290">
              <a:defRPr spc="300"/>
            </a:lvl4pPr>
            <a:lvl5pPr marL="2592070" indent="-28829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82654" y="975118"/>
            <a:ext cx="12312001" cy="690746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345110" y="3129449"/>
            <a:ext cx="10995166" cy="1283528"/>
          </a:xfrm>
        </p:spPr>
        <p:txBody>
          <a:bodyPr vert="horz" lIns="90000" tIns="46800" rIns="90000" bIns="46800" rtlCol="0" anchor="t" anchorCtr="0">
            <a:normAutofit/>
          </a:bodyPr>
          <a:lstStyle>
            <a:lvl1pPr algn="ctr">
              <a:defRPr sz="756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345110" y="4485543"/>
            <a:ext cx="10995166" cy="594142"/>
          </a:xfrm>
        </p:spPr>
        <p:txBody>
          <a:bodyPr lIns="90000" tIns="46800" rIns="90000" bIns="46800">
            <a:normAutofit/>
          </a:bodyPr>
          <a:lstStyle>
            <a:lvl1pPr algn="ctr">
              <a:lnSpc>
                <a:spcPct val="110000"/>
              </a:lnSpc>
              <a:buNone/>
              <a:defRPr sz="3025"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82654" y="766488"/>
            <a:ext cx="12307961" cy="888945"/>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82654" y="1877669"/>
            <a:ext cx="12307961" cy="5995842"/>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86693" y="7955149"/>
            <a:ext cx="3029528" cy="399118"/>
          </a:xfrm>
          <a:prstGeom prst="rect">
            <a:avLst/>
          </a:prstGeom>
        </p:spPr>
        <p:txBody>
          <a:bodyPr vert="horz" lIns="91440" tIns="45720" rIns="91440" bIns="45720" rtlCol="0" anchor="ctr">
            <a:normAutofit/>
          </a:bodyPr>
          <a:lstStyle>
            <a:lvl1pPr algn="l">
              <a:defRPr sz="126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618347" y="7955149"/>
            <a:ext cx="4443307" cy="399118"/>
          </a:xfrm>
          <a:prstGeom prst="rect">
            <a:avLst/>
          </a:prstGeom>
        </p:spPr>
        <p:txBody>
          <a:bodyPr vert="horz" lIns="91440" tIns="45720" rIns="91440" bIns="45720" rtlCol="0" anchor="ctr">
            <a:normAutofit/>
          </a:bodyPr>
          <a:lstStyle>
            <a:lvl1pPr algn="ctr">
              <a:defRPr sz="126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9961087" y="7955149"/>
            <a:ext cx="3029528" cy="399118"/>
          </a:xfrm>
          <a:prstGeom prst="rect">
            <a:avLst/>
          </a:prstGeom>
        </p:spPr>
        <p:txBody>
          <a:bodyPr vert="horz" lIns="91440" tIns="45720" rIns="91440" bIns="45720" rtlCol="0" anchor="ctr">
            <a:normAutofit/>
          </a:bodyPr>
          <a:lstStyle>
            <a:lvl1pPr algn="r">
              <a:defRPr sz="126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151890" rtl="0" eaLnBrk="1" fontAlgn="auto" latinLnBrk="0" hangingPunct="1">
        <a:lnSpc>
          <a:spcPct val="100000"/>
        </a:lnSpc>
        <a:spcBef>
          <a:spcPct val="0"/>
        </a:spcBef>
        <a:buNone/>
        <a:defRPr sz="4535" b="0" u="none" strike="noStrike" kern="1200" cap="none" spc="300" normalizeH="0" baseline="0">
          <a:solidFill>
            <a:schemeClr val="tx1">
              <a:lumMod val="85000"/>
              <a:lumOff val="15000"/>
            </a:schemeClr>
          </a:solidFill>
          <a:uFillTx/>
          <a:latin typeface="+mj-lt"/>
          <a:ea typeface="+mj-ea"/>
          <a:cs typeface="+mj-cs"/>
        </a:defRPr>
      </a:lvl1pPr>
    </p:titleStyle>
    <p:bodyStyle>
      <a:lvl1pPr marL="288290" indent="-288290" algn="l" defTabSz="1151890" rtl="0" eaLnBrk="1" fontAlgn="auto" latinLnBrk="0" hangingPunct="1">
        <a:lnSpc>
          <a:spcPct val="130000"/>
        </a:lnSpc>
        <a:spcBef>
          <a:spcPts val="0"/>
        </a:spcBef>
        <a:spcAft>
          <a:spcPts val="1000"/>
        </a:spcAft>
        <a:buFont typeface="Arial" panose="020B0604020202020204" pitchFamily="34" charset="0"/>
        <a:buChar char="●"/>
        <a:defRPr sz="2270" u="none" strike="noStrike" kern="1200" cap="none" spc="150" normalizeH="0" baseline="0">
          <a:solidFill>
            <a:schemeClr val="tx1">
              <a:lumMod val="65000"/>
              <a:lumOff val="35000"/>
            </a:schemeClr>
          </a:solidFill>
          <a:uFillTx/>
          <a:latin typeface="+mn-lt"/>
          <a:ea typeface="+mn-ea"/>
          <a:cs typeface="+mn-cs"/>
        </a:defRPr>
      </a:lvl1pPr>
      <a:lvl2pPr marL="864235" indent="-288290" algn="l" defTabSz="1151890" rtl="0" eaLnBrk="1" fontAlgn="auto" latinLnBrk="0" hangingPunct="1">
        <a:lnSpc>
          <a:spcPct val="120000"/>
        </a:lnSpc>
        <a:spcBef>
          <a:spcPts val="0"/>
        </a:spcBef>
        <a:spcAft>
          <a:spcPts val="600"/>
        </a:spcAft>
        <a:buFont typeface="Arial" panose="020B0604020202020204" pitchFamily="34" charset="0"/>
        <a:buChar char="●"/>
        <a:tabLst>
          <a:tab pos="2028190" algn="l"/>
          <a:tab pos="2028190" algn="l"/>
          <a:tab pos="2028190" algn="l"/>
          <a:tab pos="2028190" algn="l"/>
        </a:tabLst>
        <a:defRPr sz="2015" u="none" strike="noStrike" kern="1200" cap="none" spc="150" normalizeH="0" baseline="0">
          <a:solidFill>
            <a:schemeClr val="tx1">
              <a:lumMod val="65000"/>
              <a:lumOff val="35000"/>
            </a:schemeClr>
          </a:solidFill>
          <a:uFillTx/>
          <a:latin typeface="+mn-lt"/>
          <a:ea typeface="+mn-ea"/>
          <a:cs typeface="+mn-cs"/>
        </a:defRPr>
      </a:lvl2pPr>
      <a:lvl3pPr marL="1440180" indent="-288290" algn="l" defTabSz="1151890" rtl="0" eaLnBrk="1" fontAlgn="auto" latinLnBrk="0" hangingPunct="1">
        <a:lnSpc>
          <a:spcPct val="120000"/>
        </a:lnSpc>
        <a:spcBef>
          <a:spcPts val="0"/>
        </a:spcBef>
        <a:spcAft>
          <a:spcPts val="600"/>
        </a:spcAft>
        <a:buFont typeface="Arial" panose="020B0604020202020204" pitchFamily="34" charset="0"/>
        <a:buChar char="●"/>
        <a:defRPr sz="2015" u="none" strike="noStrike" kern="1200" cap="none" spc="150" normalizeH="0" baseline="0">
          <a:solidFill>
            <a:schemeClr val="tx1">
              <a:lumMod val="65000"/>
              <a:lumOff val="35000"/>
            </a:schemeClr>
          </a:solidFill>
          <a:uFillTx/>
          <a:latin typeface="+mn-lt"/>
          <a:ea typeface="+mn-ea"/>
          <a:cs typeface="+mn-cs"/>
        </a:defRPr>
      </a:lvl3pPr>
      <a:lvl4pPr marL="2016125" indent="-288290" algn="l" defTabSz="1151890" rtl="0" eaLnBrk="1" fontAlgn="auto" latinLnBrk="0" hangingPunct="1">
        <a:lnSpc>
          <a:spcPct val="120000"/>
        </a:lnSpc>
        <a:spcBef>
          <a:spcPts val="0"/>
        </a:spcBef>
        <a:spcAft>
          <a:spcPts val="300"/>
        </a:spcAft>
        <a:buFont typeface="Wingdings" panose="05000000000000000000" charset="0"/>
        <a:buChar char=""/>
        <a:defRPr sz="1765" u="none" strike="noStrike" kern="1200" cap="none" spc="150" normalizeH="0" baseline="0">
          <a:solidFill>
            <a:schemeClr val="tx1">
              <a:lumMod val="65000"/>
              <a:lumOff val="35000"/>
            </a:schemeClr>
          </a:solidFill>
          <a:uFillTx/>
          <a:latin typeface="+mn-lt"/>
          <a:ea typeface="+mn-ea"/>
          <a:cs typeface="+mn-cs"/>
        </a:defRPr>
      </a:lvl4pPr>
      <a:lvl5pPr marL="2592070" indent="-288290" algn="l" defTabSz="1151890" rtl="0" eaLnBrk="1" fontAlgn="auto" latinLnBrk="0" hangingPunct="1">
        <a:lnSpc>
          <a:spcPct val="120000"/>
        </a:lnSpc>
        <a:spcBef>
          <a:spcPts val="0"/>
        </a:spcBef>
        <a:spcAft>
          <a:spcPts val="300"/>
        </a:spcAft>
        <a:buFont typeface="Arial" panose="020B0604020202020204" pitchFamily="34" charset="0"/>
        <a:buChar char="•"/>
        <a:defRPr sz="1765" u="none" strike="noStrike" kern="1200" cap="none" spc="150" normalizeH="0" baseline="0">
          <a:solidFill>
            <a:schemeClr val="tx1">
              <a:lumMod val="65000"/>
              <a:lumOff val="35000"/>
            </a:schemeClr>
          </a:solidFill>
          <a:uFillTx/>
          <a:latin typeface="+mn-lt"/>
          <a:ea typeface="+mn-ea"/>
          <a:cs typeface="+mn-cs"/>
        </a:defRPr>
      </a:lvl5pPr>
      <a:lvl6pPr marL="3168015" indent="-288290" algn="l" defTabSz="1151890" rtl="0" eaLnBrk="1" latinLnBrk="0" hangingPunct="1">
        <a:lnSpc>
          <a:spcPct val="90000"/>
        </a:lnSpc>
        <a:spcBef>
          <a:spcPts val="630"/>
        </a:spcBef>
        <a:buFont typeface="Arial" panose="020B0604020202020204" pitchFamily="34" charset="0"/>
        <a:buChar char="•"/>
        <a:defRPr sz="2270" kern="1200">
          <a:solidFill>
            <a:schemeClr val="tx1"/>
          </a:solidFill>
          <a:latin typeface="+mn-lt"/>
          <a:ea typeface="+mn-ea"/>
          <a:cs typeface="+mn-cs"/>
        </a:defRPr>
      </a:lvl6pPr>
      <a:lvl7pPr marL="3743960" indent="-288290" algn="l" defTabSz="1151890" rtl="0" eaLnBrk="1" latinLnBrk="0" hangingPunct="1">
        <a:lnSpc>
          <a:spcPct val="90000"/>
        </a:lnSpc>
        <a:spcBef>
          <a:spcPts val="630"/>
        </a:spcBef>
        <a:buFont typeface="Arial" panose="020B0604020202020204" pitchFamily="34" charset="0"/>
        <a:buChar char="•"/>
        <a:defRPr sz="2270" kern="1200">
          <a:solidFill>
            <a:schemeClr val="tx1"/>
          </a:solidFill>
          <a:latin typeface="+mn-lt"/>
          <a:ea typeface="+mn-ea"/>
          <a:cs typeface="+mn-cs"/>
        </a:defRPr>
      </a:lvl7pPr>
      <a:lvl8pPr marL="4319905" indent="-288290" algn="l" defTabSz="1151890" rtl="0" eaLnBrk="1" latinLnBrk="0" hangingPunct="1">
        <a:lnSpc>
          <a:spcPct val="90000"/>
        </a:lnSpc>
        <a:spcBef>
          <a:spcPts val="630"/>
        </a:spcBef>
        <a:buFont typeface="Arial" panose="020B0604020202020204" pitchFamily="34" charset="0"/>
        <a:buChar char="•"/>
        <a:defRPr sz="2270" kern="1200">
          <a:solidFill>
            <a:schemeClr val="tx1"/>
          </a:solidFill>
          <a:latin typeface="+mn-lt"/>
          <a:ea typeface="+mn-ea"/>
          <a:cs typeface="+mn-cs"/>
        </a:defRPr>
      </a:lvl8pPr>
      <a:lvl9pPr marL="4895850" indent="-288290" algn="l" defTabSz="1151890" rtl="0" eaLnBrk="1" latinLnBrk="0" hangingPunct="1">
        <a:lnSpc>
          <a:spcPct val="90000"/>
        </a:lnSpc>
        <a:spcBef>
          <a:spcPts val="630"/>
        </a:spcBef>
        <a:buFont typeface="Arial" panose="020B0604020202020204" pitchFamily="34" charset="0"/>
        <a:buChar char="•"/>
        <a:defRPr sz="2270" kern="1200">
          <a:solidFill>
            <a:schemeClr val="tx1"/>
          </a:solidFill>
          <a:latin typeface="+mn-lt"/>
          <a:ea typeface="+mn-ea"/>
          <a:cs typeface="+mn-cs"/>
        </a:defRPr>
      </a:lvl9pPr>
    </p:bodyStyle>
    <p:otherStyle>
      <a:defPPr>
        <a:defRPr lang="zh-CN"/>
      </a:defPPr>
      <a:lvl1pPr marL="0" algn="l" defTabSz="1151890" rtl="0" eaLnBrk="1" latinLnBrk="0" hangingPunct="1">
        <a:defRPr sz="2270" kern="1200">
          <a:solidFill>
            <a:schemeClr val="tx1"/>
          </a:solidFill>
          <a:latin typeface="+mn-lt"/>
          <a:ea typeface="+mn-ea"/>
          <a:cs typeface="+mn-cs"/>
        </a:defRPr>
      </a:lvl1pPr>
      <a:lvl2pPr marL="575945" algn="l" defTabSz="1151890" rtl="0" eaLnBrk="1" latinLnBrk="0" hangingPunct="1">
        <a:defRPr sz="2270" kern="1200">
          <a:solidFill>
            <a:schemeClr val="tx1"/>
          </a:solidFill>
          <a:latin typeface="+mn-lt"/>
          <a:ea typeface="+mn-ea"/>
          <a:cs typeface="+mn-cs"/>
        </a:defRPr>
      </a:lvl2pPr>
      <a:lvl3pPr marL="1151890" algn="l" defTabSz="1151890" rtl="0" eaLnBrk="1" latinLnBrk="0" hangingPunct="1">
        <a:defRPr sz="2270" kern="1200">
          <a:solidFill>
            <a:schemeClr val="tx1"/>
          </a:solidFill>
          <a:latin typeface="+mn-lt"/>
          <a:ea typeface="+mn-ea"/>
          <a:cs typeface="+mn-cs"/>
        </a:defRPr>
      </a:lvl3pPr>
      <a:lvl4pPr marL="1727835" algn="l" defTabSz="1151890" rtl="0" eaLnBrk="1" latinLnBrk="0" hangingPunct="1">
        <a:defRPr sz="2270" kern="1200">
          <a:solidFill>
            <a:schemeClr val="tx1"/>
          </a:solidFill>
          <a:latin typeface="+mn-lt"/>
          <a:ea typeface="+mn-ea"/>
          <a:cs typeface="+mn-cs"/>
        </a:defRPr>
      </a:lvl4pPr>
      <a:lvl5pPr marL="2303780" algn="l" defTabSz="1151890" rtl="0" eaLnBrk="1" latinLnBrk="0" hangingPunct="1">
        <a:defRPr sz="2270" kern="1200">
          <a:solidFill>
            <a:schemeClr val="tx1"/>
          </a:solidFill>
          <a:latin typeface="+mn-lt"/>
          <a:ea typeface="+mn-ea"/>
          <a:cs typeface="+mn-cs"/>
        </a:defRPr>
      </a:lvl5pPr>
      <a:lvl6pPr marL="2879725" algn="l" defTabSz="1151890" rtl="0" eaLnBrk="1" latinLnBrk="0" hangingPunct="1">
        <a:defRPr sz="2270" kern="1200">
          <a:solidFill>
            <a:schemeClr val="tx1"/>
          </a:solidFill>
          <a:latin typeface="+mn-lt"/>
          <a:ea typeface="+mn-ea"/>
          <a:cs typeface="+mn-cs"/>
        </a:defRPr>
      </a:lvl6pPr>
      <a:lvl7pPr marL="3456305" algn="l" defTabSz="1151890" rtl="0" eaLnBrk="1" latinLnBrk="0" hangingPunct="1">
        <a:defRPr sz="2270" kern="1200">
          <a:solidFill>
            <a:schemeClr val="tx1"/>
          </a:solidFill>
          <a:latin typeface="+mn-lt"/>
          <a:ea typeface="+mn-ea"/>
          <a:cs typeface="+mn-cs"/>
        </a:defRPr>
      </a:lvl7pPr>
      <a:lvl8pPr marL="4032250" algn="l" defTabSz="1151890" rtl="0" eaLnBrk="1" latinLnBrk="0" hangingPunct="1">
        <a:defRPr sz="2270" kern="1200">
          <a:solidFill>
            <a:schemeClr val="tx1"/>
          </a:solidFill>
          <a:latin typeface="+mn-lt"/>
          <a:ea typeface="+mn-ea"/>
          <a:cs typeface="+mn-cs"/>
        </a:defRPr>
      </a:lvl8pPr>
      <a:lvl9pPr marL="4608195" algn="l" defTabSz="1151890" rtl="0" eaLnBrk="1" latinLnBrk="0" hangingPunct="1">
        <a:defRPr sz="22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3.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52000" y="1301210"/>
            <a:ext cx="5403215" cy="3018790"/>
          </a:xfrm>
          <a:prstGeom prst="rect">
            <a:avLst/>
          </a:prstGeom>
        </p:spPr>
      </p:pic>
      <p:sp>
        <p:nvSpPr>
          <p:cNvPr id="5" name="文本框 4"/>
          <p:cNvSpPr txBox="1"/>
          <p:nvPr/>
        </p:nvSpPr>
        <p:spPr>
          <a:xfrm>
            <a:off x="3210340" y="4387945"/>
            <a:ext cx="844550" cy="306705"/>
          </a:xfrm>
          <a:prstGeom prst="rect">
            <a:avLst/>
          </a:prstGeom>
          <a:noFill/>
        </p:spPr>
        <p:txBody>
          <a:bodyPr wrap="square" rtlCol="0">
            <a:spAutoFit/>
          </a:bodyPr>
          <a:p>
            <a:r>
              <a:rPr lang="en-US" altLang="zh-CN" sz="1400">
                <a:latin typeface="Times New Roman" panose="02020603050405020304" charset="0"/>
                <a:cs typeface="Times New Roman" panose="02020603050405020304" charset="0"/>
              </a:rPr>
              <a:t>pairwise</a:t>
            </a:r>
            <a:endParaRPr lang="en-US" altLang="zh-CN" sz="1400">
              <a:latin typeface="Times New Roman" panose="02020603050405020304" charset="0"/>
              <a:cs typeface="Times New Roman" panose="02020603050405020304" charset="0"/>
            </a:endParaRPr>
          </a:p>
        </p:txBody>
      </p:sp>
      <p:pic>
        <p:nvPicPr>
          <p:cNvPr id="6" name="图片 5"/>
          <p:cNvPicPr>
            <a:picLocks noChangeAspect="1"/>
          </p:cNvPicPr>
          <p:nvPr/>
        </p:nvPicPr>
        <p:blipFill>
          <a:blip r:embed="rId2"/>
          <a:stretch>
            <a:fillRect/>
          </a:stretch>
        </p:blipFill>
        <p:spPr>
          <a:xfrm>
            <a:off x="1252000" y="4933410"/>
            <a:ext cx="5132070" cy="1766570"/>
          </a:xfrm>
          <a:prstGeom prst="rect">
            <a:avLst/>
          </a:prstGeom>
        </p:spPr>
      </p:pic>
      <p:sp>
        <p:nvSpPr>
          <p:cNvPr id="7" name="文本框 6"/>
          <p:cNvSpPr txBox="1"/>
          <p:nvPr/>
        </p:nvSpPr>
        <p:spPr>
          <a:xfrm>
            <a:off x="3210340" y="7006685"/>
            <a:ext cx="1183005" cy="306705"/>
          </a:xfrm>
          <a:prstGeom prst="rect">
            <a:avLst/>
          </a:prstGeom>
          <a:noFill/>
        </p:spPr>
        <p:txBody>
          <a:bodyPr wrap="square" rtlCol="0">
            <a:spAutoFit/>
          </a:bodyPr>
          <a:p>
            <a:r>
              <a:rPr lang="en-US" altLang="zh-CN" sz="1400">
                <a:latin typeface="Times New Roman" panose="02020603050405020304" charset="0"/>
                <a:cs typeface="Times New Roman" panose="02020603050405020304" charset="0"/>
              </a:rPr>
              <a:t>pointwise</a:t>
            </a:r>
            <a:endParaRPr lang="en-US" altLang="zh-CN" sz="1400">
              <a:latin typeface="Times New Roman" panose="02020603050405020304" charset="0"/>
              <a:cs typeface="Times New Roman" panose="02020603050405020304" charset="0"/>
            </a:endParaRPr>
          </a:p>
        </p:txBody>
      </p:sp>
      <p:sp>
        <p:nvSpPr>
          <p:cNvPr id="10" name="矩形 9"/>
          <p:cNvSpPr/>
          <p:nvPr/>
        </p:nvSpPr>
        <p:spPr>
          <a:xfrm>
            <a:off x="7074315" y="3114770"/>
            <a:ext cx="1965960" cy="4572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p:cNvPicPr>
            <a:picLocks noChangeAspect="1"/>
          </p:cNvPicPr>
          <p:nvPr/>
        </p:nvPicPr>
        <p:blipFill>
          <a:blip r:embed="rId3"/>
          <a:stretch>
            <a:fillRect/>
          </a:stretch>
        </p:blipFill>
        <p:spPr>
          <a:xfrm>
            <a:off x="6700300" y="1244060"/>
            <a:ext cx="6178550" cy="5962650"/>
          </a:xfrm>
          <a:prstGeom prst="rect">
            <a:avLst/>
          </a:prstGeom>
        </p:spPr>
      </p:pic>
      <p:sp>
        <p:nvSpPr>
          <p:cNvPr id="12" name="文本框 11"/>
          <p:cNvSpPr txBox="1"/>
          <p:nvPr/>
        </p:nvSpPr>
        <p:spPr>
          <a:xfrm>
            <a:off x="8179850" y="7352125"/>
            <a:ext cx="2495550" cy="306705"/>
          </a:xfrm>
          <a:prstGeom prst="rect">
            <a:avLst/>
          </a:prstGeom>
        </p:spPr>
        <p:txBody>
          <a:bodyPr wrap="square">
            <a:spAutoFit/>
          </a:bodyPr>
          <a:p>
            <a:r>
              <a:rPr lang="en-US" altLang="zh-CN" sz="1400">
                <a:solidFill>
                  <a:srgbClr val="000000"/>
                </a:solidFill>
                <a:latin typeface="Times New Roman" panose="02020603050405020304" charset="0"/>
                <a:ea typeface="NimbusRomNo9L-Regu"/>
                <a:cs typeface="Times New Roman" panose="02020603050405020304" charset="0"/>
              </a:rPr>
              <a:t>multi-turn pairwise comparison</a:t>
            </a:r>
            <a:endParaRPr lang="en-US" altLang="zh-CN" sz="1400">
              <a:solidFill>
                <a:srgbClr val="000000"/>
              </a:solidFill>
              <a:latin typeface="Times New Roman" panose="02020603050405020304" charset="0"/>
              <a:ea typeface="NimbusRomNo9L-Regu"/>
              <a:cs typeface="Times New Roman" panose="02020603050405020304" charset="0"/>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490125" y="2762980"/>
            <a:ext cx="10581005" cy="1814830"/>
          </a:xfrm>
          <a:prstGeom prst="rect">
            <a:avLst/>
          </a:prstGeom>
          <a:noFill/>
        </p:spPr>
        <p:txBody>
          <a:bodyPr wrap="square" rtlCol="0">
            <a:spAutoFit/>
          </a:bodyPr>
          <a:p>
            <a:r>
              <a:rPr lang="zh-CN" altLang="en-US" sz="1600">
                <a:latin typeface="Times New Roman" panose="02020603050405020304" charset="0"/>
                <a:ea typeface="宋体" panose="02010600030101010101" pitchFamily="2" charset="-122"/>
                <a:cs typeface="Times New Roman" panose="02020603050405020304" charset="0"/>
              </a:rPr>
              <a:t>&lt;|im_start|&gt;user\n</a:t>
            </a:r>
            <a:r>
              <a:rPr lang="zh-CN" altLang="en-US" sz="1600">
                <a:solidFill>
                  <a:schemeClr val="accent1">
                    <a:lumMod val="75000"/>
                  </a:schemeClr>
                </a:solidFill>
                <a:latin typeface="Times New Roman" panose="02020603050405020304" charset="0"/>
                <a:ea typeface="宋体" panose="02010600030101010101" pitchFamily="2" charset="-122"/>
                <a:cs typeface="Times New Roman" panose="02020603050405020304" charset="0"/>
              </a:rPr>
              <a:t>到了初中，学科变得好多，成绩也差了，好希望回到小学。</a:t>
            </a:r>
            <a:r>
              <a:rPr lang="en-US" altLang="zh-CN" sz="1600">
                <a:latin typeface="Times New Roman" panose="02020603050405020304" charset="0"/>
                <a:ea typeface="宋体" panose="02010600030101010101" pitchFamily="2" charset="-122"/>
                <a:cs typeface="Times New Roman" panose="02020603050405020304" charset="0"/>
              </a:rPr>
              <a:t>\n</a:t>
            </a:r>
            <a:r>
              <a:rPr lang="zh-CN" altLang="en-US" sz="1600">
                <a:latin typeface="Times New Roman" panose="02020603050405020304" charset="0"/>
                <a:ea typeface="宋体" panose="02010600030101010101" pitchFamily="2" charset="-122"/>
                <a:cs typeface="Times New Roman" panose="02020603050405020304" charset="0"/>
              </a:rPr>
              <a:t>&lt;|im_end|&gt;\n&lt;|im_start|&gt;assistant\n</a:t>
            </a:r>
            <a:r>
              <a:rPr lang="zh-CN" altLang="en-US" sz="1600">
                <a:solidFill>
                  <a:srgbClr val="FF0000"/>
                </a:solidFill>
                <a:latin typeface="Times New Roman" panose="02020603050405020304" charset="0"/>
                <a:ea typeface="宋体" panose="02010600030101010101" pitchFamily="2" charset="-122"/>
                <a:cs typeface="Times New Roman" panose="02020603050405020304" charset="0"/>
              </a:rPr>
              <a:t>提问式共情：</a:t>
            </a:r>
            <a:r>
              <a:rPr lang="zh-CN" altLang="en-US" sz="1600">
                <a:latin typeface="Times New Roman" panose="02020603050405020304" charset="0"/>
                <a:ea typeface="宋体" panose="02010600030101010101" pitchFamily="2" charset="-122"/>
                <a:cs typeface="Times New Roman" panose="02020603050405020304" charset="0"/>
              </a:rPr>
              <a:t>听起来你现在对于学习上的变化感到有些不适应和焦虑。我能理解，从小学升入初中，学科的增加确实会带来不少压力，每个人在面对新挑战时都可能希望能回到舒适区。你能不能告诉我，是哪些学科让你感到比较吃力呢？或者，有没有哪些具体的时刻让你特别怀念小学时光？我们一起来看看能否找到帮助你的方法。&lt;|im_end|&gt;\n</a:t>
            </a:r>
            <a:r>
              <a:rPr lang="zh-CN" altLang="en-US" sz="1600">
                <a:solidFill>
                  <a:srgbClr val="FF0000"/>
                </a:solidFill>
                <a:latin typeface="Times New Roman" panose="02020603050405020304" charset="0"/>
                <a:ea typeface="宋体" panose="02010600030101010101" pitchFamily="2" charset="-122"/>
                <a:cs typeface="Times New Roman" panose="02020603050405020304" charset="0"/>
              </a:rPr>
              <a:t>非提问式共情：</a:t>
            </a:r>
            <a:r>
              <a:rPr lang="zh-CN" altLang="en-US" sz="1600">
                <a:latin typeface="Times New Roman" panose="02020603050405020304" charset="0"/>
                <a:ea typeface="宋体" panose="02010600030101010101" pitchFamily="2" charset="-122"/>
                <a:cs typeface="Times New Roman" panose="02020603050405020304" charset="0"/>
              </a:rPr>
              <a:t>我能感受到你面对初中新环境和新学科时的压力和不适，小学时光简单而快乐，相比之下，初中的学习生活确实充满了挑战。成绩的波动让你渴望回到那个更加轻松自在的小学时光，那种感觉完全可以理解。在这个过程中，你可能会感到有些迷茫和不安。\n&lt;|im_end|&gt;\n&lt;|endoftext|&gt;</a:t>
            </a:r>
            <a:endParaRPr lang="zh-CN" altLang="en-US" sz="1600">
              <a:latin typeface="Times New Roman" panose="02020603050405020304" charset="0"/>
              <a:ea typeface="宋体" panose="02010600030101010101" pitchFamily="2" charset="-122"/>
              <a:cs typeface="Times New Roman" panose="0202060305040502030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76580" y="272415"/>
            <a:ext cx="12064365" cy="7424420"/>
          </a:xfrm>
          <a:prstGeom prst="rect">
            <a:avLst/>
          </a:prstGeom>
          <a:noFill/>
        </p:spPr>
        <p:txBody>
          <a:bodyPr wrap="square" rtlCol="0" anchor="t">
            <a:noAutofit/>
          </a:bodyPr>
          <a:p>
            <a:r>
              <a:rPr lang="zh-CN" altLang="en-US" sz="1400">
                <a:solidFill>
                  <a:srgbClr val="FF0000"/>
                </a:solidFill>
                <a:latin typeface="Times New Roman" panose="02020603050405020304" charset="0"/>
                <a:cs typeface="Times New Roman" panose="02020603050405020304" charset="0"/>
              </a:rPr>
              <a:t>&lt;|im_start|&gt;system</a:t>
            </a:r>
            <a:endParaRPr lang="zh-CN" altLang="en-US" sz="1400">
              <a:solidFill>
                <a:srgbClr val="FF0000"/>
              </a:solidFill>
              <a:latin typeface="Times New Roman" panose="02020603050405020304" charset="0"/>
              <a:cs typeface="Times New Roman" panose="02020603050405020304" charset="0"/>
            </a:endParaRPr>
          </a:p>
          <a:p>
            <a:r>
              <a:rPr lang="zh-CN" altLang="en-US" sz="1400">
                <a:solidFill>
                  <a:srgbClr val="FF0000"/>
                </a:solidFill>
                <a:latin typeface="Times New Roman" panose="02020603050405020304" charset="0"/>
                <a:cs typeface="Times New Roman" panose="02020603050405020304" charset="0"/>
              </a:rPr>
              <a:t>You are a helpful assistant, that ranks models by the quality of their answers.</a:t>
            </a:r>
            <a:endParaRPr lang="zh-CN" altLang="en-US" sz="1400">
              <a:solidFill>
                <a:srgbClr val="FF0000"/>
              </a:solidFill>
              <a:latin typeface="Times New Roman" panose="02020603050405020304" charset="0"/>
              <a:cs typeface="Times New Roman" panose="02020603050405020304" charset="0"/>
            </a:endParaRPr>
          </a:p>
          <a:p>
            <a:r>
              <a:rPr lang="zh-CN" altLang="en-US" sz="1400">
                <a:solidFill>
                  <a:srgbClr val="FF0000"/>
                </a:solidFill>
                <a:latin typeface="Times New Roman" panose="02020603050405020304" charset="0"/>
                <a:cs typeface="Times New Roman" panose="02020603050405020304" charset="0"/>
              </a:rPr>
              <a:t>&lt;|im_end|&gt;</a:t>
            </a:r>
            <a:endParaRPr lang="zh-CN" altLang="en-US" sz="1400">
              <a:solidFill>
                <a:srgbClr val="FF0000"/>
              </a:solidFill>
              <a:latin typeface="Times New Roman" panose="02020603050405020304" charset="0"/>
              <a:cs typeface="Times New Roman" panose="02020603050405020304" charset="0"/>
            </a:endParaRPr>
          </a:p>
          <a:p>
            <a:endParaRPr lang="zh-CN" altLang="en-US" sz="1400">
              <a:solidFill>
                <a:srgbClr val="FF0000"/>
              </a:solidFill>
              <a:latin typeface="Times New Roman" panose="02020603050405020304" charset="0"/>
              <a:cs typeface="Times New Roman" panose="02020603050405020304" charset="0"/>
            </a:endParaRPr>
          </a:p>
          <a:p>
            <a:r>
              <a:rPr lang="zh-CN" altLang="en-US" sz="1400">
                <a:latin typeface="Times New Roman" panose="02020603050405020304" charset="0"/>
                <a:cs typeface="Times New Roman" panose="02020603050405020304" charset="0"/>
              </a:rPr>
              <a:t>&lt;|im_start|&gt;user</a:t>
            </a:r>
            <a:endParaRPr lang="zh-CN" altLang="en-US" sz="1400">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I want you to create a leaderboard of different of large-language models. To do so, I will give you the instructions (prompts) given to the models, and the responses of two models. Please rank the models based on which responses would be preferred by humans. All inputs and outputs should be python dictionaries.</a:t>
            </a:r>
            <a:endParaRPr lang="zh-CN" altLang="en-US" sz="1400">
              <a:solidFill>
                <a:schemeClr val="accent4">
                  <a:lumMod val="75000"/>
                </a:schemeClr>
              </a:solidFill>
              <a:latin typeface="Times New Roman" panose="02020603050405020304" charset="0"/>
              <a:cs typeface="Times New Roman" panose="02020603050405020304" charset="0"/>
            </a:endParaRPr>
          </a:p>
          <a:p>
            <a:endParaRPr lang="zh-CN" altLang="en-US" sz="1400">
              <a:latin typeface="Times New Roman" panose="02020603050405020304" charset="0"/>
              <a:cs typeface="Times New Roman" panose="02020603050405020304" charset="0"/>
            </a:endParaRPr>
          </a:p>
          <a:p>
            <a:r>
              <a:rPr lang="zh-CN" altLang="en-US" sz="1400">
                <a:solidFill>
                  <a:srgbClr val="7030A0"/>
                </a:solidFill>
                <a:latin typeface="Times New Roman" panose="02020603050405020304" charset="0"/>
                <a:cs typeface="Times New Roman" panose="02020603050405020304" charset="0"/>
              </a:rPr>
              <a:t>Here is the prompt:</a:t>
            </a:r>
            <a:endParaRPr lang="zh-CN" altLang="en-US" sz="1400">
              <a:solidFill>
                <a:srgbClr val="7030A0"/>
              </a:solidFill>
              <a:latin typeface="Times New Roman" panose="02020603050405020304" charset="0"/>
              <a:cs typeface="Times New Roman" panose="02020603050405020304" charset="0"/>
            </a:endParaRPr>
          </a:p>
          <a:p>
            <a:r>
              <a:rPr lang="zh-CN" altLang="en-US" sz="1400">
                <a:solidFill>
                  <a:srgbClr val="7030A0"/>
                </a:solidFill>
                <a:latin typeface="Times New Roman" panose="02020603050405020304" charset="0"/>
                <a:cs typeface="Times New Roman" panose="02020603050405020304" charset="0"/>
              </a:rPr>
              <a:t>{</a:t>
            </a:r>
            <a:endParaRPr lang="zh-CN" altLang="en-US" sz="1400">
              <a:solidFill>
                <a:srgbClr val="7030A0"/>
              </a:solidFill>
              <a:latin typeface="Times New Roman" panose="02020603050405020304" charset="0"/>
              <a:cs typeface="Times New Roman" panose="02020603050405020304" charset="0"/>
            </a:endParaRPr>
          </a:p>
          <a:p>
            <a:r>
              <a:rPr lang="zh-CN" altLang="en-US" sz="1400">
                <a:solidFill>
                  <a:srgbClr val="7030A0"/>
                </a:solidFill>
                <a:latin typeface="Times New Roman" panose="02020603050405020304" charset="0"/>
                <a:cs typeface="Times New Roman" panose="02020603050405020304" charset="0"/>
              </a:rPr>
              <a:t>    "instruction": """{instruction}""",</a:t>
            </a:r>
            <a:endParaRPr lang="zh-CN" altLang="en-US" sz="1400">
              <a:solidFill>
                <a:srgbClr val="7030A0"/>
              </a:solidFill>
              <a:latin typeface="Times New Roman" panose="02020603050405020304" charset="0"/>
              <a:cs typeface="Times New Roman" panose="02020603050405020304" charset="0"/>
            </a:endParaRPr>
          </a:p>
          <a:p>
            <a:r>
              <a:rPr lang="zh-CN" altLang="en-US" sz="1400">
                <a:solidFill>
                  <a:srgbClr val="7030A0"/>
                </a:solidFill>
                <a:latin typeface="Times New Roman" panose="02020603050405020304" charset="0"/>
                <a:cs typeface="Times New Roman" panose="02020603050405020304" charset="0"/>
              </a:rPr>
              <a:t>}</a:t>
            </a:r>
            <a:endParaRPr lang="zh-CN" altLang="en-US" sz="1400">
              <a:solidFill>
                <a:srgbClr val="7030A0"/>
              </a:solidFill>
              <a:latin typeface="Times New Roman" panose="02020603050405020304" charset="0"/>
              <a:cs typeface="Times New Roman" panose="02020603050405020304" charset="0"/>
            </a:endParaRPr>
          </a:p>
          <a:p>
            <a:endParaRPr lang="zh-CN" altLang="en-US" sz="1400">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Here are the outputs of the models:</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"model": "model_1",</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"answer": """{output_1}"""</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"model": "model_2",</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"answer": """{output_2}"""</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    }</a:t>
            </a:r>
            <a:endParaRPr lang="zh-CN" altLang="en-US" sz="1400">
              <a:solidFill>
                <a:schemeClr val="accent1">
                  <a:lumMod val="75000"/>
                </a:schemeClr>
              </a:solidFill>
              <a:latin typeface="Times New Roman" panose="02020603050405020304" charset="0"/>
              <a:cs typeface="Times New Roman" panose="02020603050405020304" charset="0"/>
            </a:endParaRPr>
          </a:p>
          <a:p>
            <a:r>
              <a:rPr lang="zh-CN" altLang="en-US" sz="1400">
                <a:solidFill>
                  <a:schemeClr val="accent1">
                    <a:lumMod val="75000"/>
                  </a:schemeClr>
                </a:solidFill>
                <a:latin typeface="Times New Roman" panose="02020603050405020304" charset="0"/>
                <a:cs typeface="Times New Roman" panose="02020603050405020304" charset="0"/>
              </a:rPr>
              <a:t>]</a:t>
            </a:r>
            <a:endParaRPr lang="zh-CN" altLang="en-US" sz="1400">
              <a:solidFill>
                <a:schemeClr val="accent1">
                  <a:lumMod val="75000"/>
                </a:schemeClr>
              </a:solidFill>
              <a:latin typeface="Times New Roman" panose="02020603050405020304" charset="0"/>
              <a:cs typeface="Times New Roman" panose="02020603050405020304" charset="0"/>
            </a:endParaRPr>
          </a:p>
          <a:p>
            <a:endParaRPr lang="zh-CN" altLang="en-US" sz="1400">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Now please rank the models by the quality of their answers, so that the model with rank 1 has the best output. Then return a list of the model names and ranks, i.e., produce the following output:</a:t>
            </a:r>
            <a:endParaRPr lang="zh-CN" altLang="en-US" sz="1400">
              <a:solidFill>
                <a:schemeClr val="accent4">
                  <a:lumMod val="75000"/>
                </a:schemeClr>
              </a:solidFill>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a:t>
            </a:r>
            <a:endParaRPr lang="zh-CN" altLang="en-US" sz="1400">
              <a:solidFill>
                <a:schemeClr val="accent4">
                  <a:lumMod val="75000"/>
                </a:schemeClr>
              </a:solidFill>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    {'model': &lt;model-name&gt;, 'rank': &lt;model-rank&gt;},</a:t>
            </a:r>
            <a:endParaRPr lang="zh-CN" altLang="en-US" sz="1400">
              <a:solidFill>
                <a:schemeClr val="accent4">
                  <a:lumMod val="75000"/>
                </a:schemeClr>
              </a:solidFill>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    {'model': &lt;model-name&gt;, 'rank': &lt;model-rank&gt;}</a:t>
            </a:r>
            <a:endParaRPr lang="zh-CN" altLang="en-US" sz="1400">
              <a:solidFill>
                <a:schemeClr val="accent4">
                  <a:lumMod val="75000"/>
                </a:schemeClr>
              </a:solidFill>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a:t>
            </a:r>
            <a:endParaRPr lang="zh-CN" altLang="en-US" sz="1400">
              <a:solidFill>
                <a:schemeClr val="accent4">
                  <a:lumMod val="75000"/>
                </a:schemeClr>
              </a:solidFill>
              <a:latin typeface="Times New Roman" panose="02020603050405020304" charset="0"/>
              <a:cs typeface="Times New Roman" panose="02020603050405020304" charset="0"/>
            </a:endParaRPr>
          </a:p>
          <a:p>
            <a:endParaRPr lang="zh-CN" altLang="en-US" sz="1400">
              <a:solidFill>
                <a:schemeClr val="accent4">
                  <a:lumMod val="75000"/>
                </a:schemeClr>
              </a:solidFill>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Your response must be a valid Python dictionary and should contain nothing else because we will directly execute it in Python. Please provide the ranking that the majority of humans would give.</a:t>
            </a:r>
            <a:endParaRPr lang="zh-CN" altLang="en-US" sz="1400">
              <a:solidFill>
                <a:schemeClr val="accent4">
                  <a:lumMod val="75000"/>
                </a:schemeClr>
              </a:solidFill>
              <a:latin typeface="Times New Roman" panose="02020603050405020304" charset="0"/>
              <a:cs typeface="Times New Roman" panose="02020603050405020304" charset="0"/>
            </a:endParaRPr>
          </a:p>
          <a:p>
            <a:r>
              <a:rPr lang="zh-CN" altLang="en-US" sz="1400">
                <a:solidFill>
                  <a:schemeClr val="accent4">
                    <a:lumMod val="75000"/>
                  </a:schemeClr>
                </a:solidFill>
                <a:latin typeface="Times New Roman" panose="02020603050405020304" charset="0"/>
                <a:cs typeface="Times New Roman" panose="02020603050405020304" charset="0"/>
              </a:rPr>
              <a:t>&lt;|im_end|&gt;</a:t>
            </a:r>
            <a:endParaRPr lang="zh-CN" altLang="en-US" sz="1400">
              <a:solidFill>
                <a:schemeClr val="accent4">
                  <a:lumMod val="75000"/>
                </a:schemeClr>
              </a:solidFill>
              <a:latin typeface="Times New Roman" panose="02020603050405020304" charset="0"/>
              <a:cs typeface="Times New Roman" panose="02020603050405020304" charset="0"/>
            </a:endParaRPr>
          </a:p>
        </p:txBody>
      </p:sp>
      <p:sp>
        <p:nvSpPr>
          <p:cNvPr id="6" name="右大括号 5"/>
          <p:cNvSpPr/>
          <p:nvPr/>
        </p:nvSpPr>
        <p:spPr>
          <a:xfrm>
            <a:off x="6407785" y="272415"/>
            <a:ext cx="154305" cy="914400"/>
          </a:xfrm>
          <a:prstGeom prst="rightBrac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rgbClr val="FF0000"/>
              </a:solidFill>
              <a:highlight>
                <a:srgbClr val="FF0000"/>
              </a:highlight>
            </a:endParaRPr>
          </a:p>
        </p:txBody>
      </p:sp>
      <p:sp>
        <p:nvSpPr>
          <p:cNvPr id="7" name="文本框 6"/>
          <p:cNvSpPr txBox="1"/>
          <p:nvPr/>
        </p:nvSpPr>
        <p:spPr>
          <a:xfrm>
            <a:off x="6885940" y="545465"/>
            <a:ext cx="1735455" cy="368300"/>
          </a:xfrm>
          <a:prstGeom prst="rect">
            <a:avLst/>
          </a:prstGeom>
          <a:noFill/>
        </p:spPr>
        <p:txBody>
          <a:bodyPr wrap="square" rtlCol="0">
            <a:spAutoFit/>
          </a:bodyPr>
          <a:p>
            <a:r>
              <a:rPr lang="en-US" altLang="zh-CN" b="1">
                <a:solidFill>
                  <a:srgbClr val="FF0000"/>
                </a:solidFill>
                <a:latin typeface="Times New Roman" panose="02020603050405020304" charset="0"/>
                <a:cs typeface="Times New Roman" panose="02020603050405020304" charset="0"/>
              </a:rPr>
              <a:t>System Prompt</a:t>
            </a:r>
            <a:endParaRPr lang="en-US" altLang="zh-CN" b="1">
              <a:solidFill>
                <a:srgbClr val="FF0000"/>
              </a:solidFill>
              <a:latin typeface="Times New Roman" panose="02020603050405020304" charset="0"/>
              <a:cs typeface="Times New Roman" panose="02020603050405020304" charset="0"/>
            </a:endParaRPr>
          </a:p>
        </p:txBody>
      </p:sp>
      <p:sp>
        <p:nvSpPr>
          <p:cNvPr id="8" name="右大括号 7"/>
          <p:cNvSpPr/>
          <p:nvPr/>
        </p:nvSpPr>
        <p:spPr>
          <a:xfrm>
            <a:off x="3802380" y="1952625"/>
            <a:ext cx="154305" cy="914400"/>
          </a:xfrm>
          <a:prstGeom prst="rightBrace">
            <a:avLst/>
          </a:prstGeom>
          <a:ln>
            <a:solidFill>
              <a:srgbClr val="7030A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rgbClr val="FF0000"/>
              </a:solidFill>
              <a:highlight>
                <a:srgbClr val="FF0000"/>
              </a:highlight>
            </a:endParaRPr>
          </a:p>
        </p:txBody>
      </p:sp>
      <p:sp>
        <p:nvSpPr>
          <p:cNvPr id="9" name="文本框 8"/>
          <p:cNvSpPr txBox="1"/>
          <p:nvPr/>
        </p:nvSpPr>
        <p:spPr>
          <a:xfrm>
            <a:off x="4178300" y="2225675"/>
            <a:ext cx="2229485" cy="368300"/>
          </a:xfrm>
          <a:prstGeom prst="rect">
            <a:avLst/>
          </a:prstGeom>
          <a:noFill/>
        </p:spPr>
        <p:txBody>
          <a:bodyPr wrap="square" rtlCol="0">
            <a:spAutoFit/>
          </a:bodyPr>
          <a:p>
            <a:r>
              <a:rPr lang="en-US" altLang="zh-CN" b="1">
                <a:solidFill>
                  <a:srgbClr val="7030A0"/>
                </a:solidFill>
                <a:latin typeface="Times New Roman" panose="02020603050405020304" charset="0"/>
                <a:cs typeface="Times New Roman" panose="02020603050405020304" charset="0"/>
              </a:rPr>
              <a:t>Model Instruction</a:t>
            </a:r>
            <a:endParaRPr lang="en-US" altLang="zh-CN" b="1">
              <a:solidFill>
                <a:srgbClr val="7030A0"/>
              </a:solidFill>
              <a:latin typeface="Times New Roman" panose="02020603050405020304" charset="0"/>
              <a:cs typeface="Times New Roman" panose="02020603050405020304" charset="0"/>
            </a:endParaRPr>
          </a:p>
        </p:txBody>
      </p:sp>
      <p:sp>
        <p:nvSpPr>
          <p:cNvPr id="10" name="右大括号 9"/>
          <p:cNvSpPr/>
          <p:nvPr/>
        </p:nvSpPr>
        <p:spPr>
          <a:xfrm>
            <a:off x="3632835" y="3283585"/>
            <a:ext cx="434975" cy="2108835"/>
          </a:xfrm>
          <a:prstGeom prst="rightBrace">
            <a:avLst/>
          </a:prstGeom>
          <a:ln>
            <a:solidFill>
              <a:schemeClr val="accent1">
                <a:lumMod val="7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accent1">
                  <a:lumMod val="75000"/>
                </a:schemeClr>
              </a:solidFill>
              <a:highlight>
                <a:srgbClr val="FF0000"/>
              </a:highlight>
            </a:endParaRPr>
          </a:p>
        </p:txBody>
      </p:sp>
      <p:sp>
        <p:nvSpPr>
          <p:cNvPr id="11" name="文本框 10"/>
          <p:cNvSpPr txBox="1"/>
          <p:nvPr/>
        </p:nvSpPr>
        <p:spPr>
          <a:xfrm>
            <a:off x="4178300" y="4092575"/>
            <a:ext cx="1969770" cy="490855"/>
          </a:xfrm>
          <a:prstGeom prst="rect">
            <a:avLst/>
          </a:prstGeom>
          <a:noFill/>
        </p:spPr>
        <p:txBody>
          <a:bodyPr wrap="square" rtlCol="0">
            <a:noAutofit/>
          </a:bodyPr>
          <a:p>
            <a:r>
              <a:rPr lang="en-US" altLang="zh-CN" b="1">
                <a:solidFill>
                  <a:schemeClr val="accent1">
                    <a:lumMod val="75000"/>
                  </a:schemeClr>
                </a:solidFill>
                <a:latin typeface="Times New Roman" panose="02020603050405020304" charset="0"/>
                <a:cs typeface="Times New Roman" panose="02020603050405020304" charset="0"/>
              </a:rPr>
              <a:t>Model Outputs</a:t>
            </a:r>
            <a:endParaRPr lang="en-US" altLang="zh-CN" b="1">
              <a:solidFill>
                <a:schemeClr val="accent1">
                  <a:lumMod val="75000"/>
                </a:schemeClr>
              </a:solidFill>
              <a:latin typeface="Times New Roman" panose="02020603050405020304" charset="0"/>
              <a:cs typeface="Times New Roman" panose="02020603050405020304" charset="0"/>
            </a:endParaRPr>
          </a:p>
        </p:txBody>
      </p:sp>
      <p:sp>
        <p:nvSpPr>
          <p:cNvPr id="12" name="右大括号 11"/>
          <p:cNvSpPr/>
          <p:nvPr/>
        </p:nvSpPr>
        <p:spPr>
          <a:xfrm rot="5400000">
            <a:off x="9230360" y="-877570"/>
            <a:ext cx="280670" cy="5925820"/>
          </a:xfrm>
          <a:prstGeom prst="rightBrace">
            <a:avLst/>
          </a:prstGeom>
          <a:ln>
            <a:solidFill>
              <a:schemeClr val="accent4">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7857490" y="2322195"/>
            <a:ext cx="3898265" cy="64516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Task declaration(one can add more contraints or requirements)</a:t>
            </a:r>
            <a:endParaRPr lang="en-US" altLang="zh-CN">
              <a:latin typeface="Times New Roman" panose="02020603050405020304" charset="0"/>
              <a:cs typeface="Times New Roman" panose="02020603050405020304" charset="0"/>
            </a:endParaRPr>
          </a:p>
        </p:txBody>
      </p:sp>
      <p:sp>
        <p:nvSpPr>
          <p:cNvPr id="15" name="右大括号 14"/>
          <p:cNvSpPr/>
          <p:nvPr/>
        </p:nvSpPr>
        <p:spPr>
          <a:xfrm rot="16200000">
            <a:off x="8442960" y="2289175"/>
            <a:ext cx="280670" cy="5925820"/>
          </a:xfrm>
          <a:prstGeom prst="rightBrace">
            <a:avLst/>
          </a:prstGeom>
          <a:ln>
            <a:solidFill>
              <a:schemeClr val="accent4">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文本框 15"/>
          <p:cNvSpPr txBox="1"/>
          <p:nvPr/>
        </p:nvSpPr>
        <p:spPr>
          <a:xfrm>
            <a:off x="6885940" y="4531360"/>
            <a:ext cx="481330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Detail or Steps(One can add more examples )</a:t>
            </a:r>
            <a:endParaRPr lang="en-US" altLang="zh-CN">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06780" y="648970"/>
            <a:ext cx="9050020" cy="5477510"/>
          </a:xfrm>
          <a:prstGeom prst="rect">
            <a:avLst/>
          </a:prstGeom>
        </p:spPr>
        <p:txBody>
          <a:bodyPr wrap="square">
            <a:spAutoFit/>
          </a:bodyPr>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请你以公</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正的评判</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者的身份</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，评估一个</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AI</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助手对</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于用户提</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问的回答</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的质量。</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由于您</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评估的回</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答类型是</a:t>
            </a:r>
            <a:r>
              <a:rPr lang="en-US" altLang="zh-CN" sz="1400">
                <a:solidFill>
                  <a:srgbClr val="0000FF"/>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回答 </a:t>
            </a:r>
            <a:endParaRPr lang="zh-CN" altLang="en-US" sz="1400">
              <a:solidFill>
                <a:srgbClr val="0000FF"/>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类型</a:t>
            </a:r>
            <a:r>
              <a:rPr lang="en-US" altLang="zh-CN" sz="1400">
                <a:solidFill>
                  <a:srgbClr val="0000FF"/>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，因此你</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需要从下面</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的几个维</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度对回答</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进行评估</a:t>
            </a:r>
            <a:r>
              <a:rPr lang="en-US" altLang="zh-CN" sz="1400">
                <a:solidFill>
                  <a:srgbClr val="0000FF"/>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FF"/>
                </a:solidFill>
                <a:latin typeface="Times New Roman" panose="02020603050405020304" charset="0"/>
                <a:ea typeface="宋体" panose="02010600030101010101" pitchFamily="2" charset="-122"/>
                <a:cs typeface="Times New Roman" panose="02020603050405020304" charset="0"/>
              </a:rPr>
              <a:t>维度定义</a:t>
            </a:r>
            <a:r>
              <a:rPr lang="en-US" altLang="zh-CN" sz="1400">
                <a:solidFill>
                  <a:srgbClr val="0000FF"/>
                </a:solidFill>
                <a:latin typeface="Times New Roman" panose="02020603050405020304" charset="0"/>
                <a:ea typeface="宋体" panose="02010600030101010101" pitchFamily="2" charset="-122"/>
                <a:cs typeface="Times New Roman" panose="02020603050405020304" charset="0"/>
              </a:rPr>
              <a:t>] </a:t>
            </a:r>
            <a:endParaRPr lang="en-US" altLang="zh-CN" sz="1400">
              <a:solidFill>
                <a:srgbClr val="0000FF"/>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我</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们会给您</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提供用户</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的提问，</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高质量的</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参考答案</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，和需要</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你评估的</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AI</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助</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手的答案</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。当你开</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始你的评</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估时，你 </a:t>
            </a:r>
            <a:endParaRPr lang="zh-CN" altLang="en-US"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需要按</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照遵守以下</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的流程： </a:t>
            </a:r>
            <a:endParaRPr lang="zh-CN" altLang="en-US"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1. </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将</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AI</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助</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手的答案</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与参考答</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案进行比</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较，指出</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AI</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助</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手的答案</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有哪些不足</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，并进一</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步解释。 </a:t>
            </a:r>
            <a:endParaRPr lang="zh-CN" altLang="en-US" sz="1400">
              <a:solidFill>
                <a:srgbClr val="FF0000"/>
              </a:solidFill>
              <a:latin typeface="Times New Roman" panose="02020603050405020304" charset="0"/>
              <a:ea typeface="宋体" panose="02010600030101010101" pitchFamily="2" charset="-122"/>
              <a:cs typeface="Times New Roman" panose="02020603050405020304" charset="0"/>
            </a:endParaRPr>
          </a:p>
          <a:p>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2. </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从不</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同维度对</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AI</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助手</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的答案进</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行评价，</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在每个维</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度的评价之</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后，给每</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一个维度一个</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1</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10</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的分数。 </a:t>
            </a:r>
            <a:endParaRPr lang="zh-CN" altLang="en-US" sz="1400">
              <a:solidFill>
                <a:srgbClr val="FF0000"/>
              </a:solidFill>
              <a:latin typeface="Times New Roman" panose="02020603050405020304" charset="0"/>
              <a:ea typeface="宋体" panose="02010600030101010101" pitchFamily="2" charset="-122"/>
              <a:cs typeface="Times New Roman" panose="02020603050405020304" charset="0"/>
            </a:endParaRPr>
          </a:p>
          <a:p>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3. </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最后</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，综合每</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个维度的</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评估，对</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AI</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助手的回</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答给出一个</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1</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a:t>
            </a:r>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10</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的综</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合分数。 </a:t>
            </a:r>
            <a:endParaRPr lang="zh-CN" altLang="en-US" sz="1400">
              <a:solidFill>
                <a:srgbClr val="FF0000"/>
              </a:solidFill>
              <a:latin typeface="Times New Roman" panose="02020603050405020304" charset="0"/>
              <a:ea typeface="宋体" panose="02010600030101010101" pitchFamily="2" charset="-122"/>
              <a:cs typeface="Times New Roman" panose="02020603050405020304" charset="0"/>
            </a:endParaRPr>
          </a:p>
          <a:p>
            <a:r>
              <a:rPr lang="en-US" altLang="zh-CN" sz="1400">
                <a:solidFill>
                  <a:srgbClr val="FF0000"/>
                </a:solidFill>
                <a:latin typeface="Times New Roman" panose="02020603050405020304" charset="0"/>
                <a:ea typeface="宋体" panose="02010600030101010101" pitchFamily="2" charset="-122"/>
                <a:cs typeface="Times New Roman" panose="02020603050405020304" charset="0"/>
              </a:rPr>
              <a:t>4. </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你</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的打分需</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要尽可能</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严格，并</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且要遵守</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下面的评</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分规则：</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总的来说</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，模型回</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答的质量</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越高，则分</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数越高。 </a:t>
            </a:r>
            <a:endParaRPr lang="zh-CN" altLang="en-US" sz="1400">
              <a:solidFill>
                <a:srgbClr val="FF0000"/>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其中，</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事实正确</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性和满足</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用户需求</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这两个维度</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是最重要</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的，这两个</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维度的分</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数主导了</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最后的综</a:t>
            </a:r>
            <a:r>
              <a:rPr lang="zh-CN" altLang="en-US" sz="1400">
                <a:solidFill>
                  <a:srgbClr val="FF0000"/>
                </a:solidFill>
                <a:latin typeface="Times New Roman" panose="02020603050405020304" charset="0"/>
                <a:ea typeface="宋体" panose="02010600030101010101" pitchFamily="2" charset="-122"/>
                <a:cs typeface="Times New Roman" panose="02020603050405020304" charset="0"/>
              </a:rPr>
              <a:t>合分数。 </a:t>
            </a:r>
            <a:endParaRPr lang="zh-CN" altLang="en-US" sz="1400">
              <a:solidFill>
                <a:srgbClr val="FF0000"/>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当模型回</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答存在与</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问题不相</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关，或者</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有本质性的</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事实错误</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，或生成</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了有害内</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容时，总</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分必须是</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1</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到</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2</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 </a:t>
            </a:r>
            <a:endParaRPr lang="zh-CN" altLang="en-US" sz="1400">
              <a:solidFill>
                <a:srgbClr val="00CC66"/>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当</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模型回答</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没有严重</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错误而且</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基本无害</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，但是质</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量较低，</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没有满足</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用户需求</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，总分为</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3</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到</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4</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 </a:t>
            </a:r>
            <a:endParaRPr lang="zh-CN" altLang="en-US" sz="1400">
              <a:solidFill>
                <a:srgbClr val="00CC66"/>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当</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模型回答</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基本满足</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用户要求</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，但是在</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部分维度</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上表现较</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差，质量</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中等，总</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分可以得</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5</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到</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6</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 </a:t>
            </a:r>
            <a:endParaRPr lang="zh-CN" altLang="en-US" sz="1400">
              <a:solidFill>
                <a:srgbClr val="00CC66"/>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当</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模型回答</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质量与参</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考答案相</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近，在所</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有维度上</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表现良好</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，总分得</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7</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到</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8</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 </a:t>
            </a:r>
            <a:endParaRPr lang="zh-CN" altLang="en-US" sz="1400">
              <a:solidFill>
                <a:srgbClr val="00CC66"/>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只有当</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模型回答</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质量显著</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超过参考</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答案，充</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分地解决</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了用户问</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题和所有</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需求，并</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且在所有</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维度上都</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接近满分 </a:t>
            </a:r>
            <a:endParaRPr lang="zh-CN" altLang="en-US" sz="1400">
              <a:solidFill>
                <a:srgbClr val="00CC66"/>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的情况下</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，才能得</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9</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到</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10</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 </a:t>
            </a:r>
            <a:endParaRPr lang="zh-CN" altLang="en-US" sz="1400">
              <a:solidFill>
                <a:srgbClr val="00CC66"/>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作</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为示例，</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参考答案</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可以得到</a:t>
            </a:r>
            <a:r>
              <a:rPr lang="en-US" altLang="zh-CN" sz="1400">
                <a:solidFill>
                  <a:srgbClr val="00CC66"/>
                </a:solidFill>
                <a:latin typeface="Times New Roman" panose="02020603050405020304" charset="0"/>
                <a:ea typeface="宋体" panose="02010600030101010101" pitchFamily="2" charset="-122"/>
                <a:cs typeface="Times New Roman" panose="02020603050405020304" charset="0"/>
              </a:rPr>
              <a:t>8</a:t>
            </a:r>
            <a:r>
              <a:rPr lang="zh-CN" altLang="en-US" sz="1400">
                <a:solidFill>
                  <a:srgbClr val="00CC66"/>
                </a:solidFill>
                <a:latin typeface="Times New Roman" panose="02020603050405020304" charset="0"/>
                <a:ea typeface="宋体" panose="02010600030101010101" pitchFamily="2" charset="-122"/>
                <a:cs typeface="Times New Roman" panose="02020603050405020304" charset="0"/>
              </a:rPr>
              <a:t>分。 </a:t>
            </a:r>
            <a:endParaRPr lang="zh-CN" altLang="en-US" sz="1400">
              <a:solidFill>
                <a:srgbClr val="00CC66"/>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请记住，你</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必须在你</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打分前进行</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评价和解</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释。在你</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对每个维</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度的解释</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之后，需</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要加上对</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该维度的</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打分。之 </a:t>
            </a:r>
            <a:endParaRPr lang="zh-CN" altLang="en-US"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后，在</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你回答的</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末尾，按</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照以下字典</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格式（包</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括括号）返</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回你所有</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的打分结</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果，并确</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保你的打分</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结果是整 </a:t>
            </a:r>
            <a:endParaRPr lang="zh-CN" altLang="en-US"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数： </a:t>
            </a:r>
            <a:endParaRPr lang="zh-CN" altLang="en-US"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维度一’</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打分</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维度二’</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打分</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综</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合得分’</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打分</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，例如：</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事实</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正确性’</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9,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满足用</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户需求’</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6, ...,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综合得 </a:t>
            </a:r>
            <a:endParaRPr lang="zh-CN" altLang="en-US"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分’</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7}</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 </a:t>
            </a:r>
            <a:endParaRPr lang="zh-CN" altLang="en-US"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用户</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的提问：</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问题</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endParaRPr lang="en-US" altLang="zh-CN"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参考</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答案开始</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参考答案</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参考</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答案结束</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endParaRPr lang="en-US" altLang="zh-CN" sz="1400">
              <a:solidFill>
                <a:srgbClr val="000000"/>
              </a:solidFill>
              <a:latin typeface="Times New Roman" panose="02020603050405020304" charset="0"/>
              <a:ea typeface="宋体" panose="02010600030101010101" pitchFamily="2" charset="-122"/>
              <a:cs typeface="Times New Roman" panose="02020603050405020304" charset="0"/>
            </a:endParaRPr>
          </a:p>
          <a:p>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助手的</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答案开始</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模型答案</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 [</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助手的</a:t>
            </a:r>
            <a:r>
              <a:rPr lang="zh-CN" altLang="en-US" sz="1400">
                <a:solidFill>
                  <a:srgbClr val="000000"/>
                </a:solidFill>
                <a:latin typeface="Times New Roman" panose="02020603050405020304" charset="0"/>
                <a:ea typeface="宋体" panose="02010600030101010101" pitchFamily="2" charset="-122"/>
                <a:cs typeface="Times New Roman" panose="02020603050405020304" charset="0"/>
              </a:rPr>
              <a:t>答案结束</a:t>
            </a:r>
            <a:r>
              <a:rPr lang="en-US" altLang="zh-CN" sz="1400">
                <a:solidFill>
                  <a:srgbClr val="000000"/>
                </a:solidFill>
                <a:latin typeface="Times New Roman" panose="02020603050405020304" charset="0"/>
                <a:ea typeface="宋体" panose="02010600030101010101" pitchFamily="2" charset="-122"/>
                <a:cs typeface="Times New Roman" panose="02020603050405020304" charset="0"/>
              </a:rPr>
              <a:t>]</a:t>
            </a:r>
            <a:endParaRPr lang="en-US" altLang="zh-CN" sz="1400">
              <a:solidFill>
                <a:srgbClr val="000000"/>
              </a:solidFill>
              <a:latin typeface="Times New Roman" panose="02020603050405020304" charset="0"/>
              <a:ea typeface="宋体" panose="02010600030101010101" pitchFamily="2" charset="-122"/>
              <a:cs typeface="Times New Roman" panose="02020603050405020304" charset="0"/>
            </a:endParaRPr>
          </a:p>
        </p:txBody>
      </p:sp>
      <p:sp>
        <p:nvSpPr>
          <p:cNvPr id="6" name="右大括号 5"/>
          <p:cNvSpPr/>
          <p:nvPr/>
        </p:nvSpPr>
        <p:spPr>
          <a:xfrm>
            <a:off x="9616440" y="1590675"/>
            <a:ext cx="154305" cy="914400"/>
          </a:xfrm>
          <a:prstGeom prst="rightBrac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rgbClr val="FF0000"/>
              </a:solidFill>
              <a:highlight>
                <a:srgbClr val="FF0000"/>
              </a:highlight>
            </a:endParaRPr>
          </a:p>
        </p:txBody>
      </p:sp>
      <p:sp>
        <p:nvSpPr>
          <p:cNvPr id="5" name="文本框 4"/>
          <p:cNvSpPr txBox="1"/>
          <p:nvPr/>
        </p:nvSpPr>
        <p:spPr>
          <a:xfrm>
            <a:off x="9889490" y="1837055"/>
            <a:ext cx="2992755" cy="306705"/>
          </a:xfrm>
          <a:prstGeom prst="rect">
            <a:avLst/>
          </a:prstGeom>
          <a:noFill/>
        </p:spPr>
        <p:txBody>
          <a:bodyPr wrap="square" rtlCol="0">
            <a:spAutoFit/>
          </a:bodyPr>
          <a:p>
            <a:r>
              <a:rPr lang="zh-CN" altLang="en-US" sz="1400">
                <a:solidFill>
                  <a:srgbClr val="FF0000"/>
                </a:solidFill>
                <a:latin typeface="Times New Roman" panose="02020603050405020304" charset="0"/>
                <a:cs typeface="Times New Roman" panose="02020603050405020304" charset="0"/>
              </a:rPr>
              <a:t>Evaluation </a:t>
            </a:r>
            <a:r>
              <a:rPr lang="en-US" altLang="zh-CN" sz="1400">
                <a:solidFill>
                  <a:srgbClr val="FF0000"/>
                </a:solidFill>
                <a:latin typeface="Times New Roman" panose="02020603050405020304" charset="0"/>
                <a:cs typeface="Times New Roman" panose="02020603050405020304" charset="0"/>
              </a:rPr>
              <a:t>Process</a:t>
            </a:r>
            <a:endParaRPr lang="en-US" altLang="zh-CN" sz="1400">
              <a:solidFill>
                <a:srgbClr val="FF0000"/>
              </a:solidFill>
              <a:latin typeface="Times New Roman" panose="02020603050405020304" charset="0"/>
              <a:cs typeface="Times New Roman" panose="02020603050405020304" charset="0"/>
            </a:endParaRPr>
          </a:p>
        </p:txBody>
      </p:sp>
      <p:sp>
        <p:nvSpPr>
          <p:cNvPr id="7" name="右大括号 6"/>
          <p:cNvSpPr/>
          <p:nvPr/>
        </p:nvSpPr>
        <p:spPr>
          <a:xfrm>
            <a:off x="9616440" y="2756535"/>
            <a:ext cx="154305" cy="914400"/>
          </a:xfrm>
          <a:prstGeom prst="rightBrace">
            <a:avLst/>
          </a:prstGeom>
          <a:ln>
            <a:solidFill>
              <a:schemeClr val="accent4">
                <a:lumMod val="7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rgbClr val="FF0000"/>
              </a:solidFill>
              <a:highlight>
                <a:srgbClr val="FF0000"/>
              </a:highlight>
            </a:endParaRPr>
          </a:p>
        </p:txBody>
      </p:sp>
      <p:sp>
        <p:nvSpPr>
          <p:cNvPr id="8" name="文本框 7"/>
          <p:cNvSpPr txBox="1"/>
          <p:nvPr/>
        </p:nvSpPr>
        <p:spPr>
          <a:xfrm>
            <a:off x="9889490" y="3018790"/>
            <a:ext cx="4559935" cy="306705"/>
          </a:xfrm>
          <a:prstGeom prst="rect">
            <a:avLst/>
          </a:prstGeom>
          <a:noFill/>
        </p:spPr>
        <p:txBody>
          <a:bodyPr wrap="square" rtlCol="0">
            <a:spAutoFit/>
          </a:bodyPr>
          <a:p>
            <a:r>
              <a:rPr lang="en-US" altLang="zh-CN" sz="1400">
                <a:solidFill>
                  <a:schemeClr val="accent4">
                    <a:lumMod val="75000"/>
                  </a:schemeClr>
                </a:solidFill>
                <a:latin typeface="Times New Roman" panose="02020603050405020304" charset="0"/>
                <a:cs typeface="Times New Roman" panose="02020603050405020304" charset="0"/>
              </a:rPr>
              <a:t>Evaluation Rule</a:t>
            </a:r>
            <a:endParaRPr lang="en-US" altLang="zh-CN" sz="1400">
              <a:solidFill>
                <a:schemeClr val="accent4">
                  <a:lumMod val="75000"/>
                </a:schemeClr>
              </a:solidFill>
              <a:latin typeface="Times New Roman" panose="02020603050405020304" charset="0"/>
              <a:cs typeface="Times New Roman" panose="02020603050405020304" charset="0"/>
            </a:endParaRPr>
          </a:p>
        </p:txBody>
      </p:sp>
      <p:sp>
        <p:nvSpPr>
          <p:cNvPr id="9" name="右大括号 8"/>
          <p:cNvSpPr/>
          <p:nvPr/>
        </p:nvSpPr>
        <p:spPr>
          <a:xfrm>
            <a:off x="9616440" y="711200"/>
            <a:ext cx="154305" cy="628015"/>
          </a:xfrm>
          <a:prstGeom prst="rightBrace">
            <a:avLst/>
          </a:prstGeom>
          <a:ln>
            <a:solidFill>
              <a:schemeClr val="accent1">
                <a:lumMod val="7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rgbClr val="FF0000"/>
              </a:solidFill>
              <a:highlight>
                <a:srgbClr val="FF0000"/>
              </a:highlight>
            </a:endParaRPr>
          </a:p>
        </p:txBody>
      </p:sp>
      <p:sp>
        <p:nvSpPr>
          <p:cNvPr id="10" name="文本框 9"/>
          <p:cNvSpPr txBox="1"/>
          <p:nvPr/>
        </p:nvSpPr>
        <p:spPr>
          <a:xfrm>
            <a:off x="9956800" y="871855"/>
            <a:ext cx="4559935" cy="521970"/>
          </a:xfrm>
          <a:prstGeom prst="rect">
            <a:avLst/>
          </a:prstGeom>
          <a:noFill/>
        </p:spPr>
        <p:txBody>
          <a:bodyPr wrap="square" rtlCol="0">
            <a:spAutoFit/>
          </a:bodyPr>
          <a:p>
            <a:r>
              <a:rPr lang="en-US" altLang="zh-CN" sz="1400">
                <a:solidFill>
                  <a:schemeClr val="accent1">
                    <a:lumMod val="75000"/>
                  </a:schemeClr>
                </a:solidFill>
                <a:latin typeface="Times New Roman" panose="02020603050405020304" charset="0"/>
                <a:cs typeface="Times New Roman" panose="02020603050405020304" charset="0"/>
              </a:rPr>
              <a:t>Task Instruction&amp;</a:t>
            </a:r>
            <a:endParaRPr lang="en-US" altLang="zh-CN" sz="1400">
              <a:solidFill>
                <a:schemeClr val="accent1">
                  <a:lumMod val="75000"/>
                </a:schemeClr>
              </a:solidFill>
              <a:latin typeface="Times New Roman" panose="02020603050405020304" charset="0"/>
              <a:cs typeface="Times New Roman" panose="02020603050405020304" charset="0"/>
            </a:endParaRPr>
          </a:p>
          <a:p>
            <a:r>
              <a:rPr lang="en-US" altLang="zh-CN" sz="1400">
                <a:solidFill>
                  <a:schemeClr val="accent1">
                    <a:lumMod val="75000"/>
                  </a:schemeClr>
                </a:solidFill>
                <a:latin typeface="Times New Roman" panose="02020603050405020304" charset="0"/>
                <a:cs typeface="Times New Roman" panose="02020603050405020304" charset="0"/>
              </a:rPr>
              <a:t>Evaluation Dimension</a:t>
            </a:r>
            <a:endParaRPr lang="en-US" altLang="zh-CN" sz="1400">
              <a:solidFill>
                <a:schemeClr val="accent1">
                  <a:lumMod val="75000"/>
                </a:schemeClr>
              </a:solidFill>
              <a:latin typeface="Times New Roman" panose="02020603050405020304" charset="0"/>
              <a:cs typeface="Times New Roman" panose="02020603050405020304" charset="0"/>
            </a:endParaRPr>
          </a:p>
        </p:txBody>
      </p:sp>
      <p:sp>
        <p:nvSpPr>
          <p:cNvPr id="11" name="右大括号 10"/>
          <p:cNvSpPr/>
          <p:nvPr/>
        </p:nvSpPr>
        <p:spPr>
          <a:xfrm>
            <a:off x="9897745" y="4176395"/>
            <a:ext cx="116205" cy="1741170"/>
          </a:xfrm>
          <a:prstGeom prst="rightBrac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rgbClr val="FF0000"/>
              </a:solidFill>
              <a:highlight>
                <a:srgbClr val="FF0000"/>
              </a:highlight>
            </a:endParaRPr>
          </a:p>
        </p:txBody>
      </p:sp>
      <p:sp>
        <p:nvSpPr>
          <p:cNvPr id="12" name="文本框 11"/>
          <p:cNvSpPr txBox="1"/>
          <p:nvPr/>
        </p:nvSpPr>
        <p:spPr>
          <a:xfrm>
            <a:off x="10226675" y="4862830"/>
            <a:ext cx="4559935" cy="306705"/>
          </a:xfrm>
          <a:prstGeom prst="rect">
            <a:avLst/>
          </a:prstGeom>
          <a:noFill/>
        </p:spPr>
        <p:txBody>
          <a:bodyPr wrap="square" rtlCol="0">
            <a:spAutoFit/>
          </a:bodyPr>
          <a:p>
            <a:r>
              <a:rPr lang="en-US" altLang="zh-CN" sz="1400">
                <a:latin typeface="Times New Roman" panose="02020603050405020304" charset="0"/>
                <a:cs typeface="Times New Roman" panose="02020603050405020304" charset="0"/>
              </a:rPr>
              <a:t>output Format</a:t>
            </a:r>
            <a:endParaRPr lang="en-US" altLang="zh-CN" sz="14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1228725" y="2209165"/>
            <a:ext cx="9546590" cy="5658485"/>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commondata" val="eyJoZGlkIjoiNjIxMGI2NjViMDZkMWZhMDM1MzQ4OWRlODFjNTcwZTI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2702</Words>
  <Application>WPS 演示</Application>
  <PresentationFormat>宽屏</PresentationFormat>
  <Paragraphs>85</Paragraphs>
  <Slides>6</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宋体</vt:lpstr>
      <vt:lpstr>Wingdings</vt:lpstr>
      <vt:lpstr>Wingdings</vt:lpstr>
      <vt:lpstr>Times New Roman</vt:lpstr>
      <vt:lpstr>NimbusRomNo9L-Regu</vt:lpstr>
      <vt:lpstr>Segoe Print</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TTC</cp:lastModifiedBy>
  <cp:revision>206</cp:revision>
  <dcterms:created xsi:type="dcterms:W3CDTF">2019-06-19T02:08:00Z</dcterms:created>
  <dcterms:modified xsi:type="dcterms:W3CDTF">2024-11-07T09:24:53Z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FC7A2801512D47018EB677EECFFEEB28_11</vt:lpwstr>
  </property>
</Properties>
</file>